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7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1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Presentation explanation: Explain the eight functional requirements and how each maps to Next.js, FastAPI, AI, PostgreSQL, and blockchain services.</a:t>
            </a:r>
          </a:p>
          <a:p/>
          <a:p>
            <a:r>
              <a:t>Key takeaway: Each function is assigned to a dedicated layer: documents enter through the portal, AI extracts evidence, validation checks it, and blockchain preserves integrity. The final report explains detected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Presentation explanation: Distinguish the product outcome (usable evidence for people) from the development objective (working open-source implementation).</a:t>
            </a:r>
          </a:p>
          <a:p/>
          <a:p>
            <a:r>
              <a:t>Key takeaway: The product aims to make document review clearer for buyers, lawyers and banks. The project goal is a practical, modular prototype that protects originals off-chain and records proof on-chain.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Presentation explanation: Mention that the system supports review and is not an automatic legal title certification service.</a:t>
            </a:r>
          </a:p>
          <a:p/>
          <a:p>
            <a:r>
              <a:t>Key takeaway: Unreadable scans, conflicting owner details and possible tampering are handled by OCR, cross-document checks and hash verification. Flagged findings are sent for human review rather than treated as legal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Presentation explanation: Emphasize interface contracts, single-purpose modules, testability and changing OCR or NLP models independently.</a:t>
            </a:r>
          </a:p>
          <a:p/>
          <a:p>
            <a:r>
              <a:t>Key takeaway: The five modules handle ingestion, analysis, validation, integrity and reporting separately. Defined service interfaces allow testing or replacing one component without redesigning the whole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Presentation explanation: Walk through Property, Document, ExtractedField, OwnershipRecord, RiskFlag, and BlockchainRecord.</a:t>
            </a:r>
          </a:p>
          <a:p/>
          <a:p>
            <a:r>
              <a:t>Key takeaway: Property is the central record linked to uploaded documents and ownership events. Extracted fields and risk flags capture analysis results, while blockchain records hold integrity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Presentation explanation: Explain what 1, 0..*, and 0..1 mean using the diagram; distinguish who owns data and who provides services.</a:t>
            </a:r>
          </a:p>
          <a:p/>
          <a:p>
            <a:r>
              <a:t>Key takeaway: Associations identify which class creates, contains or uses another class. Multiplicities explain expected counts, such as one property having several documents and one document yielding several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Presentation explanation: Compare persistent domain entities with processing services and user-facing boundary components.</a:t>
            </a:r>
          </a:p>
          <a:p/>
          <a:p>
            <a:r>
              <a:t>Key takeaway: Entity classes store information, control classes perform verification, and boundary classes connect users or external systems. This separation makes responsibilities easier to understand and maintain.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Presentation explanation: Explain base-class reuse and that inheritance should reflect a meaningful is-a relation rather than being added everywhere.</a:t>
            </a:r>
          </a:p>
          <a:p/>
          <a:p>
            <a:r>
              <a:t>Key takeaway: OCRService and NLPExtractor share a common extraction contract through ExtractorBase. Specialized subclasses implement different extraction methods without duplicating input-handling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Presentation explanation: Use an example: one property may contain multiple sale deeds; a blockchain transaction can still be pending.</a:t>
            </a:r>
          </a:p>
          <a:p/>
          <a:p>
            <a:r>
              <a:t>Key takeaway: Multiplicity labels describe how records relate over time. A property can have multiple documents and ownership events, whereas an individual document may not yet have a blockchain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Presentation explanation: Follow each arrow chronologically and match it to the participating object; mention error-handling as a future extension.</a:t>
            </a:r>
          </a:p>
          <a:p/>
          <a:p>
            <a:r>
              <a:t>Key takeaway: The sequence follows a document from upload to OCR, entity extraction, validation and blockchain recording. Each message belongs to a participating object or service in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Presentation explanation: Point at class, association, generalization, actor, use case and state symbols and explain each.</a:t>
            </a:r>
          </a:p>
          <a:p/>
          <a:p>
            <a:r>
              <a:t>Key takeaway: Standard UML conventions make the design interpretable: class boxes identify structure, labelled lines show relationships, actors represent external users, and arrows indicate transitions.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Presentation explanation: Describe the three behavioral views of the same verification journey.</a:t>
            </a:r>
          </a:p>
          <a:p/>
          <a:p>
            <a:r>
              <a:t>Key takeaway: Use-case diagrams show user goals, sequence diagrams show message order, and activity diagrams show processing decisions. Together they describe one consistent verification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Presentation explanation: Read one row as actor -&gt; operation -&gt; request -&gt; output and note that role permissions can restrict actions.</a:t>
            </a:r>
          </a:p>
          <a:p/>
          <a:p>
            <a:r>
              <a:t>Key takeaway: Each use case identifies who starts it, what information is required and what result is returned. Buyers upload and verify, lawyers review exceptions, and banks check evidence or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Presentation explanation: Match operation calls in sequence diagram to method responsibilities in class design.</a:t>
            </a:r>
          </a:p>
          <a:p/>
          <a:p>
            <a:r>
              <a:t>Key takeaway: The sequence diagram is consistent when its participants match designed classes and its messages map to actual service responsibilities. This avoids inventing operations that the class model cannot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Presentation explanation: Clarify the distinction between aggregation and composition; avoid finalizing deletion behavior without policy approval.</a:t>
            </a:r>
          </a:p>
          <a:p/>
          <a:p>
            <a:r>
              <a:t>Key takeaway: A property groups related documents and ownership history as one conceptual aggregate. Whether child records are deleted or retained is a separate data-retention decision requiring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Presentation explanation: Explain the normal path and exception path, including risk review and revalidation.</a:t>
            </a:r>
          </a:p>
          <a:p/>
          <a:p>
            <a:r>
              <a:t>Key takeaway: A document moves through uploaded, processing, validated, hashed and recorded states. When risk is detected it enters needs-review; corrections can trigger another validation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Presentation explanation: Trace raw PDF -&gt; OCR text -&gt; extracted field records -&gt; flags -&gt; hash -&gt; verification report. Clarify that only fingerprints go on-chain.</a:t>
            </a:r>
          </a:p>
          <a:p/>
          <a:p>
            <a:r>
              <a:t>Key takeaway: The data flow converts source files into extracted text, structured fields, risk findings and a report. Control flow branches on validation results, while only hashes are written to blockchain.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914400"/>
            <a:ext cx="2560320" cy="2560320"/>
          </a:xfrm>
          <a:prstGeom prst="ellipse">
            <a:avLst/>
          </a:prstGeom>
          <a:solidFill>
            <a:srgbClr val="223E60"/>
          </a:solidFill>
          <a:ln w="12700">
            <a:solidFill>
              <a:srgbClr val="223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1271016"/>
            <a:ext cx="2560320" cy="2560320"/>
          </a:xfrm>
          <a:prstGeom prst="ellipse">
            <a:avLst/>
          </a:prstGeom>
          <a:solidFill>
            <a:srgbClr val="193050"/>
          </a:solidFill>
          <a:ln w="12700">
            <a:solidFill>
              <a:srgbClr val="19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1627632"/>
            <a:ext cx="2560320" cy="2560320"/>
          </a:xfrm>
          <a:prstGeom prst="ellipse">
            <a:avLst/>
          </a:prstGeom>
          <a:solidFill>
            <a:srgbClr val="223E60"/>
          </a:solidFill>
          <a:ln w="12700">
            <a:solidFill>
              <a:srgbClr val="223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72600" y="1984248"/>
            <a:ext cx="2560320" cy="2560320"/>
          </a:xfrm>
          <a:prstGeom prst="ellipse">
            <a:avLst/>
          </a:prstGeom>
          <a:solidFill>
            <a:srgbClr val="193050"/>
          </a:solidFill>
          <a:ln w="12700">
            <a:solidFill>
              <a:srgbClr val="19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0" y="2340864"/>
            <a:ext cx="2560320" cy="2560320"/>
          </a:xfrm>
          <a:prstGeom prst="ellipse">
            <a:avLst/>
          </a:prstGeom>
          <a:solidFill>
            <a:srgbClr val="223E60"/>
          </a:solidFill>
          <a:ln w="12700">
            <a:solidFill>
              <a:srgbClr val="223E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61320" y="2697480"/>
            <a:ext cx="2560320" cy="2560320"/>
          </a:xfrm>
          <a:prstGeom prst="ellipse">
            <a:avLst/>
          </a:prstGeom>
          <a:solidFill>
            <a:srgbClr val="193050"/>
          </a:solidFill>
          <a:ln w="12700">
            <a:solidFill>
              <a:srgbClr val="19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5486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2D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ISBM COLLEGE OF ENGINEERING, NANDE, PUNE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353312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PROPCHAIN–AI</a:t>
            </a:r>
            <a:endParaRPr lang="en-US" sz="4700" dirty="0"/>
          </a:p>
        </p:txBody>
      </p:sp>
      <p:sp>
        <p:nvSpPr>
          <p:cNvPr id="11" name="Text 9"/>
          <p:cNvSpPr/>
          <p:nvPr/>
        </p:nvSpPr>
        <p:spPr>
          <a:xfrm>
            <a:off x="804672" y="242316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8E6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Blockchain-Based AI System for Property Analysis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13816" y="3218688"/>
            <a:ext cx="2852928" cy="393192"/>
          </a:xfrm>
          <a:prstGeom prst="roundRect">
            <a:avLst>
              <a:gd name="adj" fmla="val 34884"/>
            </a:avLst>
          </a:prstGeom>
          <a:solidFill>
            <a:srgbClr val="00A69D"/>
          </a:solidFill>
          <a:ln w="10160">
            <a:solidFill>
              <a:srgbClr val="00A69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3255264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REVIEW IV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6766560" cy="0"/>
          </a:xfrm>
          <a:prstGeom prst="line">
            <a:avLst/>
          </a:prstGeom>
          <a:noFill/>
          <a:ln w="12700">
            <a:solidFill>
              <a:srgbClr val="52728C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822960" y="42793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CB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663440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Nadaf MohammadAzhar  •  MohammadAli Shaikh  •  Vishal Sahani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5394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7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by Prof. Hrushikesh Ingole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619048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FB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&amp; ML Department  |  Academic Year 2026–27</a:t>
            </a:r>
            <a:endParaRPr lang="en-US" sz="110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47472"/>
            <a:ext cx="1051560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6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IV  /  INDEX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07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18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number = checklist number + 2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64792"/>
            <a:ext cx="5367528" cy="429768"/>
          </a:xfrm>
          <a:prstGeom prst="roundRect">
            <a:avLst>
              <a:gd name="adj" fmla="val 31915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842516"/>
            <a:ext cx="265176" cy="265176"/>
          </a:xfrm>
          <a:prstGeom prst="ellipse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74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1051560" y="1824228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reflected in system architecture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5422392" y="1856232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272284"/>
            <a:ext cx="5367528" cy="429768"/>
          </a:xfrm>
          <a:prstGeom prst="roundRect">
            <a:avLst>
              <a:gd name="adj" fmla="val 31915"/>
            </a:avLst>
          </a:prstGeom>
          <a:solidFill>
            <a:srgbClr val="EAF0F8"/>
          </a:solidFill>
          <a:ln w="10160">
            <a:solidFill>
              <a:srgbClr val="EAF0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2350008"/>
            <a:ext cx="265176" cy="265176"/>
          </a:xfrm>
          <a:prstGeom prst="ellipse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8201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1051560" y="2331720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for product and project goals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5422392" y="2363724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2779776"/>
            <a:ext cx="5367528" cy="429768"/>
          </a:xfrm>
          <a:prstGeom prst="roundRect">
            <a:avLst>
              <a:gd name="adj" fmla="val 31915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" y="2857500"/>
            <a:ext cx="265176" cy="265176"/>
          </a:xfrm>
          <a:prstGeom prst="ellipse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89504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1051560" y="2839212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Addressing all requirement issues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5422392" y="2871216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3287268"/>
            <a:ext cx="5367528" cy="429768"/>
          </a:xfrm>
          <a:prstGeom prst="roundRect">
            <a:avLst>
              <a:gd name="adj" fmla="val 31915"/>
            </a:avLst>
          </a:prstGeom>
          <a:solidFill>
            <a:srgbClr val="EAF0F8"/>
          </a:solidFill>
          <a:ln w="10160">
            <a:solidFill>
              <a:srgbClr val="EAF0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3364992"/>
            <a:ext cx="265176" cy="265176"/>
          </a:xfrm>
          <a:prstGeom prst="ellipse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396996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1051560" y="3346704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 modularity and independence</a:t>
            </a:r>
            <a:endParaRPr lang="en-US" sz="1210" dirty="0"/>
          </a:p>
        </p:txBody>
      </p:sp>
      <p:sp>
        <p:nvSpPr>
          <p:cNvPr id="24" name="Text 22"/>
          <p:cNvSpPr/>
          <p:nvPr/>
        </p:nvSpPr>
        <p:spPr>
          <a:xfrm>
            <a:off x="5422392" y="3378708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3794760"/>
            <a:ext cx="5367528" cy="429768"/>
          </a:xfrm>
          <a:prstGeom prst="roundRect">
            <a:avLst>
              <a:gd name="adj" fmla="val 31915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" y="3872484"/>
            <a:ext cx="265176" cy="265176"/>
          </a:xfrm>
          <a:prstGeom prst="ellipse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90448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1051560" y="3854196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Well-defined structural diagrams</a:t>
            </a:r>
            <a:endParaRPr lang="en-US" sz="1210" dirty="0"/>
          </a:p>
        </p:txBody>
      </p:sp>
      <p:sp>
        <p:nvSpPr>
          <p:cNvPr id="29" name="Text 27"/>
          <p:cNvSpPr/>
          <p:nvPr/>
        </p:nvSpPr>
        <p:spPr>
          <a:xfrm>
            <a:off x="5422392" y="3886200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4302252"/>
            <a:ext cx="5367528" cy="429768"/>
          </a:xfrm>
          <a:prstGeom prst="roundRect">
            <a:avLst>
              <a:gd name="adj" fmla="val 31915"/>
            </a:avLst>
          </a:prstGeom>
          <a:solidFill>
            <a:srgbClr val="EAF0F8"/>
          </a:solidFill>
          <a:ln w="10160">
            <a:solidFill>
              <a:srgbClr val="EAF0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" y="4379976"/>
            <a:ext cx="265176" cy="265176"/>
          </a:xfrm>
          <a:prstGeom prst="ellipse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41198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1051560" y="4361688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class associations and services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5422392" y="4393692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4809744"/>
            <a:ext cx="5367528" cy="429768"/>
          </a:xfrm>
          <a:prstGeom prst="roundRect">
            <a:avLst>
              <a:gd name="adj" fmla="val 31915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" y="4887468"/>
            <a:ext cx="265176" cy="265176"/>
          </a:xfrm>
          <a:prstGeom prst="ellipse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91947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1051560" y="4869180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Clarity of classes and architecture mapping</a:t>
            </a:r>
            <a:endParaRPr lang="en-US" sz="1210" dirty="0"/>
          </a:p>
        </p:txBody>
      </p:sp>
      <p:sp>
        <p:nvSpPr>
          <p:cNvPr id="39" name="Text 37"/>
          <p:cNvSpPr/>
          <p:nvPr/>
        </p:nvSpPr>
        <p:spPr>
          <a:xfrm>
            <a:off x="5422392" y="4901184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" y="5317236"/>
            <a:ext cx="5367528" cy="429768"/>
          </a:xfrm>
          <a:prstGeom prst="roundRect">
            <a:avLst>
              <a:gd name="adj" fmla="val 31915"/>
            </a:avLst>
          </a:prstGeom>
          <a:solidFill>
            <a:srgbClr val="EAF0F8"/>
          </a:solidFill>
          <a:ln w="10160">
            <a:solidFill>
              <a:srgbClr val="EAF0F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7512" y="5394960"/>
            <a:ext cx="265176" cy="265176"/>
          </a:xfrm>
          <a:prstGeom prst="ellipse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5426964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1051560" y="5376672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Appropriate use of inheritance</a:t>
            </a:r>
            <a:endParaRPr lang="en-US" sz="1210" dirty="0"/>
          </a:p>
        </p:txBody>
      </p:sp>
      <p:sp>
        <p:nvSpPr>
          <p:cNvPr id="44" name="Text 42"/>
          <p:cNvSpPr/>
          <p:nvPr/>
        </p:nvSpPr>
        <p:spPr>
          <a:xfrm>
            <a:off x="5422392" y="5408676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6928" y="5824728"/>
            <a:ext cx="5367528" cy="429768"/>
          </a:xfrm>
          <a:prstGeom prst="roundRect">
            <a:avLst>
              <a:gd name="adj" fmla="val 31915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7512" y="5902452"/>
            <a:ext cx="265176" cy="265176"/>
          </a:xfrm>
          <a:prstGeom prst="ellipse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5934456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1051560" y="5884164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Multiplicity in class and use-case models</a:t>
            </a:r>
            <a:endParaRPr lang="en-US" sz="1210" dirty="0"/>
          </a:p>
        </p:txBody>
      </p:sp>
      <p:sp>
        <p:nvSpPr>
          <p:cNvPr id="49" name="Text 47"/>
          <p:cNvSpPr/>
          <p:nvPr/>
        </p:nvSpPr>
        <p:spPr>
          <a:xfrm>
            <a:off x="5422392" y="5916168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91072" y="1764792"/>
            <a:ext cx="5367528" cy="429768"/>
          </a:xfrm>
          <a:prstGeom prst="roundRect">
            <a:avLst>
              <a:gd name="adj" fmla="val 31915"/>
            </a:avLst>
          </a:prstGeom>
          <a:solidFill>
            <a:srgbClr val="EAF0F8"/>
          </a:solidFill>
          <a:ln w="10160">
            <a:solidFill>
              <a:srgbClr val="EAF0F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91656" y="1842516"/>
            <a:ext cx="265176" cy="265176"/>
          </a:xfrm>
          <a:prstGeom prst="ellipse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9944" y="1874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6775704" y="1824228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Objects used in the sequence diagram</a:t>
            </a:r>
            <a:endParaRPr lang="en-US" sz="1210" dirty="0"/>
          </a:p>
        </p:txBody>
      </p:sp>
      <p:sp>
        <p:nvSpPr>
          <p:cNvPr id="54" name="Text 52"/>
          <p:cNvSpPr/>
          <p:nvPr/>
        </p:nvSpPr>
        <p:spPr>
          <a:xfrm>
            <a:off x="11146536" y="1856232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91072" y="2272284"/>
            <a:ext cx="5367528" cy="429768"/>
          </a:xfrm>
          <a:prstGeom prst="roundRect">
            <a:avLst>
              <a:gd name="adj" fmla="val 31915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91656" y="2350008"/>
            <a:ext cx="265176" cy="265176"/>
          </a:xfrm>
          <a:prstGeom prst="ellipse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9944" y="238201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6775704" y="2331720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UML-standard diagram symbols</a:t>
            </a:r>
            <a:endParaRPr lang="en-US" sz="1210" dirty="0"/>
          </a:p>
        </p:txBody>
      </p:sp>
      <p:sp>
        <p:nvSpPr>
          <p:cNvPr id="59" name="Text 57"/>
          <p:cNvSpPr/>
          <p:nvPr/>
        </p:nvSpPr>
        <p:spPr>
          <a:xfrm>
            <a:off x="11146536" y="2363724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291072" y="2779776"/>
            <a:ext cx="5367528" cy="429768"/>
          </a:xfrm>
          <a:prstGeom prst="roundRect">
            <a:avLst>
              <a:gd name="adj" fmla="val 31915"/>
            </a:avLst>
          </a:prstGeom>
          <a:solidFill>
            <a:srgbClr val="EAF0F8"/>
          </a:solidFill>
          <a:ln w="10160">
            <a:solidFill>
              <a:srgbClr val="EAF0F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91656" y="2857500"/>
            <a:ext cx="265176" cy="265176"/>
          </a:xfrm>
          <a:prstGeom prst="ellipse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9944" y="2889504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80" dirty="0"/>
          </a:p>
        </p:txBody>
      </p:sp>
      <p:sp>
        <p:nvSpPr>
          <p:cNvPr id="63" name="Text 61"/>
          <p:cNvSpPr/>
          <p:nvPr/>
        </p:nvSpPr>
        <p:spPr>
          <a:xfrm>
            <a:off x="6775704" y="2839212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Well-defined behavioural diagrams</a:t>
            </a:r>
            <a:endParaRPr lang="en-US" sz="1210" dirty="0"/>
          </a:p>
        </p:txBody>
      </p:sp>
      <p:sp>
        <p:nvSpPr>
          <p:cNvPr id="64" name="Text 62"/>
          <p:cNvSpPr/>
          <p:nvPr/>
        </p:nvSpPr>
        <p:spPr>
          <a:xfrm>
            <a:off x="11146536" y="2871216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291072" y="3287268"/>
            <a:ext cx="5367528" cy="429768"/>
          </a:xfrm>
          <a:prstGeom prst="roundRect">
            <a:avLst>
              <a:gd name="adj" fmla="val 31915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91656" y="3364992"/>
            <a:ext cx="265176" cy="265176"/>
          </a:xfrm>
          <a:prstGeom prst="ellipse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9944" y="3396996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80" dirty="0"/>
          </a:p>
        </p:txBody>
      </p:sp>
      <p:sp>
        <p:nvSpPr>
          <p:cNvPr id="68" name="Text 66"/>
          <p:cNvSpPr/>
          <p:nvPr/>
        </p:nvSpPr>
        <p:spPr>
          <a:xfrm>
            <a:off x="6775704" y="3346704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Actors and inputs / outputs per use case</a:t>
            </a:r>
            <a:endParaRPr lang="en-US" sz="1210" dirty="0"/>
          </a:p>
        </p:txBody>
      </p:sp>
      <p:sp>
        <p:nvSpPr>
          <p:cNvPr id="69" name="Text 67"/>
          <p:cNvSpPr/>
          <p:nvPr/>
        </p:nvSpPr>
        <p:spPr>
          <a:xfrm>
            <a:off x="11146536" y="3378708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291072" y="3794760"/>
            <a:ext cx="5367528" cy="429768"/>
          </a:xfrm>
          <a:prstGeom prst="roundRect">
            <a:avLst>
              <a:gd name="adj" fmla="val 31915"/>
            </a:avLst>
          </a:prstGeom>
          <a:solidFill>
            <a:srgbClr val="EAF0F8"/>
          </a:solidFill>
          <a:ln w="10160">
            <a:solidFill>
              <a:srgbClr val="EAF0F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391656" y="3872484"/>
            <a:ext cx="265176" cy="265176"/>
          </a:xfrm>
          <a:prstGeom prst="ellipse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09944" y="390448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80" dirty="0"/>
          </a:p>
        </p:txBody>
      </p:sp>
      <p:sp>
        <p:nvSpPr>
          <p:cNvPr id="73" name="Text 71"/>
          <p:cNvSpPr/>
          <p:nvPr/>
        </p:nvSpPr>
        <p:spPr>
          <a:xfrm>
            <a:off x="6775704" y="3854196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 of sequence and class diagrams</a:t>
            </a:r>
            <a:endParaRPr lang="en-US" sz="1210" dirty="0"/>
          </a:p>
        </p:txBody>
      </p:sp>
      <p:sp>
        <p:nvSpPr>
          <p:cNvPr id="74" name="Text 72"/>
          <p:cNvSpPr/>
          <p:nvPr/>
        </p:nvSpPr>
        <p:spPr>
          <a:xfrm>
            <a:off x="11146536" y="3886200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291072" y="4302252"/>
            <a:ext cx="5367528" cy="429768"/>
          </a:xfrm>
          <a:prstGeom prst="roundRect">
            <a:avLst>
              <a:gd name="adj" fmla="val 31915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91656" y="4379976"/>
            <a:ext cx="265176" cy="265176"/>
          </a:xfrm>
          <a:prstGeom prst="ellipse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09944" y="441198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80" dirty="0"/>
          </a:p>
        </p:txBody>
      </p:sp>
      <p:sp>
        <p:nvSpPr>
          <p:cNvPr id="78" name="Text 76"/>
          <p:cNvSpPr/>
          <p:nvPr/>
        </p:nvSpPr>
        <p:spPr>
          <a:xfrm>
            <a:off x="6775704" y="4361688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Aggregation and containment</a:t>
            </a:r>
            <a:endParaRPr lang="en-US" sz="1210" dirty="0"/>
          </a:p>
        </p:txBody>
      </p:sp>
      <p:sp>
        <p:nvSpPr>
          <p:cNvPr id="79" name="Text 77"/>
          <p:cNvSpPr/>
          <p:nvPr/>
        </p:nvSpPr>
        <p:spPr>
          <a:xfrm>
            <a:off x="11146536" y="4393692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291072" y="4809744"/>
            <a:ext cx="5367528" cy="429768"/>
          </a:xfrm>
          <a:prstGeom prst="roundRect">
            <a:avLst>
              <a:gd name="adj" fmla="val 31915"/>
            </a:avLst>
          </a:prstGeom>
          <a:solidFill>
            <a:srgbClr val="EAF0F8"/>
          </a:solidFill>
          <a:ln w="10160">
            <a:solidFill>
              <a:srgbClr val="EAF0F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91656" y="4887468"/>
            <a:ext cx="265176" cy="265176"/>
          </a:xfrm>
          <a:prstGeom prst="ellipse">
            <a:avLst/>
          </a:prstGeom>
          <a:solidFill>
            <a:srgbClr val="E3AD43"/>
          </a:solidFill>
          <a:ln w="12700">
            <a:solidFill>
              <a:srgbClr val="E3AD4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9944" y="491947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80" dirty="0"/>
          </a:p>
        </p:txBody>
      </p:sp>
      <p:sp>
        <p:nvSpPr>
          <p:cNvPr id="83" name="Text 81"/>
          <p:cNvSpPr/>
          <p:nvPr/>
        </p:nvSpPr>
        <p:spPr>
          <a:xfrm>
            <a:off x="6775704" y="4869180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dynamic behaviour in state charts</a:t>
            </a:r>
            <a:endParaRPr lang="en-US" sz="1210" dirty="0"/>
          </a:p>
        </p:txBody>
      </p:sp>
      <p:sp>
        <p:nvSpPr>
          <p:cNvPr id="84" name="Text 82"/>
          <p:cNvSpPr/>
          <p:nvPr/>
        </p:nvSpPr>
        <p:spPr>
          <a:xfrm>
            <a:off x="11146536" y="4901184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291072" y="5317236"/>
            <a:ext cx="5367528" cy="429768"/>
          </a:xfrm>
          <a:prstGeom prst="roundRect">
            <a:avLst>
              <a:gd name="adj" fmla="val 31915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391656" y="5394960"/>
            <a:ext cx="265176" cy="265176"/>
          </a:xfrm>
          <a:prstGeom prst="ellipse">
            <a:avLst/>
          </a:prstGeom>
          <a:solidFill>
            <a:srgbClr val="E3AD43"/>
          </a:solidFill>
          <a:ln w="12700">
            <a:solidFill>
              <a:srgbClr val="E3AD4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09944" y="5426964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80" dirty="0"/>
          </a:p>
        </p:txBody>
      </p:sp>
      <p:sp>
        <p:nvSpPr>
          <p:cNvPr id="88" name="Text 86"/>
          <p:cNvSpPr/>
          <p:nvPr/>
        </p:nvSpPr>
        <p:spPr>
          <a:xfrm>
            <a:off x="6775704" y="5376672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DFDs, CFDs and transformation flows</a:t>
            </a:r>
            <a:endParaRPr lang="en-US" sz="1210" dirty="0"/>
          </a:p>
        </p:txBody>
      </p:sp>
      <p:sp>
        <p:nvSpPr>
          <p:cNvPr id="89" name="Text 87"/>
          <p:cNvSpPr/>
          <p:nvPr/>
        </p:nvSpPr>
        <p:spPr>
          <a:xfrm>
            <a:off x="11146536" y="5408676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594360" y="65105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18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Topics begin at checklist 01. Intro, index and Thank You are not indexed.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PROPCHAIN–AI  /  PROJECT REVIEW IV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Reflected in Architecture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30352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01  • 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80192" y="64373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1499616"/>
            <a:ext cx="10927080" cy="448056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568196"/>
            <a:ext cx="758952" cy="393192"/>
          </a:xfrm>
          <a:prstGeom prst="roundRect">
            <a:avLst>
              <a:gd name="adj" fmla="val 34884"/>
            </a:avLst>
          </a:prstGeom>
          <a:solidFill>
            <a:srgbClr val="3078DB"/>
          </a:solidFill>
          <a:ln w="10160">
            <a:solidFill>
              <a:srgbClr val="307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604772"/>
            <a:ext cx="667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FR-1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1595628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upload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64608" y="1719072"/>
            <a:ext cx="457200" cy="0"/>
          </a:xfrm>
          <a:prstGeom prst="line">
            <a:avLst/>
          </a:prstGeom>
          <a:noFill/>
          <a:ln w="19050">
            <a:solidFill>
              <a:srgbClr val="9EB0C6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513832" y="1586484"/>
            <a:ext cx="5632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UI → FastAPI → off-chain storage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" y="2029968"/>
            <a:ext cx="10927080" cy="448056"/>
          </a:xfrm>
          <a:prstGeom prst="roundRect">
            <a:avLst>
              <a:gd name="adj" fmla="val 30612"/>
            </a:avLst>
          </a:prstGeom>
          <a:solidFill>
            <a:srgbClr val="EDF3FA"/>
          </a:solidFill>
          <a:ln w="10160">
            <a:solidFill>
              <a:srgbClr val="EDF3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2098548"/>
            <a:ext cx="758952" cy="393192"/>
          </a:xfrm>
          <a:prstGeom prst="roundRect">
            <a:avLst>
              <a:gd name="adj" fmla="val 34884"/>
            </a:avLst>
          </a:prstGeom>
          <a:solidFill>
            <a:srgbClr val="3078DB"/>
          </a:solidFill>
          <a:ln w="10160">
            <a:solidFill>
              <a:srgbClr val="3078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135124"/>
            <a:ext cx="667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FR-2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2125980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 and extraction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64608" y="2249424"/>
            <a:ext cx="457200" cy="0"/>
          </a:xfrm>
          <a:prstGeom prst="line">
            <a:avLst/>
          </a:prstGeom>
          <a:noFill/>
          <a:ln w="19050">
            <a:solidFill>
              <a:srgbClr val="9EB0C6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513832" y="2116836"/>
            <a:ext cx="5632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Tesseract OCR → NLPExtractor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" y="2560320"/>
            <a:ext cx="10927080" cy="448056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2628900"/>
            <a:ext cx="758952" cy="393192"/>
          </a:xfrm>
          <a:prstGeom prst="roundRect">
            <a:avLst>
              <a:gd name="adj" fmla="val 34884"/>
            </a:avLst>
          </a:prstGeom>
          <a:solidFill>
            <a:srgbClr val="3078DB"/>
          </a:solidFill>
          <a:ln w="10160">
            <a:solidFill>
              <a:srgbClr val="3078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665476"/>
            <a:ext cx="667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FR-3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91640" y="2656332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document analysis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64608" y="2779776"/>
            <a:ext cx="457200" cy="0"/>
          </a:xfrm>
          <a:prstGeom prst="line">
            <a:avLst/>
          </a:prstGeom>
          <a:noFill/>
          <a:ln w="19050">
            <a:solidFill>
              <a:srgbClr val="9EB0C6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513832" y="2647188"/>
            <a:ext cx="5632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Classifier • embeddings • FAISS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" y="3090672"/>
            <a:ext cx="10927080" cy="448056"/>
          </a:xfrm>
          <a:prstGeom prst="roundRect">
            <a:avLst>
              <a:gd name="adj" fmla="val 30612"/>
            </a:avLst>
          </a:prstGeom>
          <a:solidFill>
            <a:srgbClr val="EDF3FA"/>
          </a:solidFill>
          <a:ln w="10160">
            <a:solidFill>
              <a:srgbClr val="EDF3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" y="3159252"/>
            <a:ext cx="758952" cy="393192"/>
          </a:xfrm>
          <a:prstGeom prst="roundRect">
            <a:avLst>
              <a:gd name="adj" fmla="val 34884"/>
            </a:avLst>
          </a:prstGeom>
          <a:solidFill>
            <a:srgbClr val="00A69D"/>
          </a:solidFill>
          <a:ln w="10160">
            <a:solidFill>
              <a:srgbClr val="00A69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3195828"/>
            <a:ext cx="667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FR-4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91640" y="3186684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Cross-document checks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64608" y="3310128"/>
            <a:ext cx="457200" cy="0"/>
          </a:xfrm>
          <a:prstGeom prst="line">
            <a:avLst/>
          </a:prstGeom>
          <a:noFill/>
          <a:ln w="19050">
            <a:solidFill>
              <a:srgbClr val="9EB0C6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513832" y="3177540"/>
            <a:ext cx="5632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CrossValidator + PostgreSQL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1792" y="3621024"/>
            <a:ext cx="10927080" cy="448056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" y="3689604"/>
            <a:ext cx="758952" cy="393192"/>
          </a:xfrm>
          <a:prstGeom prst="roundRect">
            <a:avLst>
              <a:gd name="adj" fmla="val 34884"/>
            </a:avLst>
          </a:prstGeom>
          <a:solidFill>
            <a:srgbClr val="00A69D"/>
          </a:solidFill>
          <a:ln w="10160">
            <a:solidFill>
              <a:srgbClr val="00A69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3726180"/>
            <a:ext cx="667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FR-5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691640" y="3717036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and risk detection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64608" y="3840480"/>
            <a:ext cx="457200" cy="0"/>
          </a:xfrm>
          <a:prstGeom prst="line">
            <a:avLst/>
          </a:prstGeom>
          <a:noFill/>
          <a:ln w="19050">
            <a:solidFill>
              <a:srgbClr val="9EB0C6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513832" y="3707892"/>
            <a:ext cx="5632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RuleEngine + LegalRule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1792" y="4151376"/>
            <a:ext cx="10927080" cy="448056"/>
          </a:xfrm>
          <a:prstGeom prst="roundRect">
            <a:avLst>
              <a:gd name="adj" fmla="val 30612"/>
            </a:avLst>
          </a:prstGeom>
          <a:solidFill>
            <a:srgbClr val="EDF3FA"/>
          </a:solidFill>
          <a:ln w="10160">
            <a:solidFill>
              <a:srgbClr val="EDF3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952" y="4219956"/>
            <a:ext cx="758952" cy="393192"/>
          </a:xfrm>
          <a:prstGeom prst="roundRect">
            <a:avLst>
              <a:gd name="adj" fmla="val 34884"/>
            </a:avLst>
          </a:prstGeom>
          <a:solidFill>
            <a:srgbClr val="00A69D"/>
          </a:solidFill>
          <a:ln w="10160">
            <a:solidFill>
              <a:srgbClr val="00A69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4256532"/>
            <a:ext cx="667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FR-6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691640" y="4247388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 integrity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864608" y="4370832"/>
            <a:ext cx="457200" cy="0"/>
          </a:xfrm>
          <a:prstGeom prst="line">
            <a:avLst/>
          </a:prstGeom>
          <a:noFill/>
          <a:ln w="19050">
            <a:solidFill>
              <a:srgbClr val="9EB0C6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5513832" y="4238244"/>
            <a:ext cx="5632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SHA-256 → ChainGateway → Solidity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1792" y="4681728"/>
            <a:ext cx="10927080" cy="448056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8952" y="4750308"/>
            <a:ext cx="758952" cy="393192"/>
          </a:xfrm>
          <a:prstGeom prst="roundRect">
            <a:avLst>
              <a:gd name="adj" fmla="val 34884"/>
            </a:avLst>
          </a:prstGeom>
          <a:solidFill>
            <a:srgbClr val="8667CB"/>
          </a:solidFill>
          <a:ln w="10160">
            <a:solidFill>
              <a:srgbClr val="8667C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4672" y="4786884"/>
            <a:ext cx="667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FR-7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691640" y="4777740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history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864608" y="4901184"/>
            <a:ext cx="457200" cy="0"/>
          </a:xfrm>
          <a:prstGeom prst="line">
            <a:avLst/>
          </a:prstGeom>
          <a:noFill/>
          <a:ln w="19050">
            <a:solidFill>
              <a:srgbClr val="9EB0C6"/>
            </a:solidFill>
            <a:prstDash val="solid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5513832" y="4768596"/>
            <a:ext cx="5632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OwnershipGraphBuilder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21792" y="5212080"/>
            <a:ext cx="10927080" cy="448056"/>
          </a:xfrm>
          <a:prstGeom prst="roundRect">
            <a:avLst>
              <a:gd name="adj" fmla="val 30612"/>
            </a:avLst>
          </a:prstGeom>
          <a:solidFill>
            <a:srgbClr val="EDF3FA"/>
          </a:solidFill>
          <a:ln w="10160">
            <a:solidFill>
              <a:srgbClr val="EDF3F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8952" y="5280660"/>
            <a:ext cx="758952" cy="393192"/>
          </a:xfrm>
          <a:prstGeom prst="roundRect">
            <a:avLst>
              <a:gd name="adj" fmla="val 34884"/>
            </a:avLst>
          </a:prstGeom>
          <a:solidFill>
            <a:srgbClr val="8667CB"/>
          </a:solidFill>
          <a:ln w="10160">
            <a:solidFill>
              <a:srgbClr val="8667C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" y="5317236"/>
            <a:ext cx="667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FR-8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691640" y="5308092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reporting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864608" y="5431536"/>
            <a:ext cx="457200" cy="0"/>
          </a:xfrm>
          <a:prstGeom prst="line">
            <a:avLst/>
          </a:prstGeom>
          <a:noFill/>
          <a:ln w="19050">
            <a:solidFill>
              <a:srgbClr val="9EB0C6"/>
            </a:solidFill>
            <a:prstDash val="solid"/>
            <a:headEnd type="none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5513832" y="5298948"/>
            <a:ext cx="5632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VerificationReport + dashboard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40080" y="5897880"/>
            <a:ext cx="10927080" cy="384048"/>
          </a:xfrm>
          <a:prstGeom prst="roundRect">
            <a:avLst>
              <a:gd name="adj" fmla="val 357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4672" y="594360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Coverage: each of the eight functional requirements maps to a specific architectural component.</a:t>
            </a:r>
            <a:endParaRPr lang="en-US" sz="1130" dirty="0"/>
          </a:p>
        </p:txBody>
      </p:sp>
      <p:sp>
        <p:nvSpPr>
          <p:cNvPr id="58" name="Shape 56"/>
          <p:cNvSpPr/>
          <p:nvPr/>
        </p:nvSpPr>
        <p:spPr>
          <a:xfrm>
            <a:off x="640080" y="5897880"/>
            <a:ext cx="64008" cy="384048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59" name="Rounded Rectangle 58"/>
          <p:cNvSpPr/>
          <p:nvPr/>
        </p:nvSpPr>
        <p:spPr>
          <a:xfrm>
            <a:off x="630936" y="5715000"/>
            <a:ext cx="11045952" cy="630936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6384" y="5760720"/>
            <a:ext cx="10716768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20">
                <a:solidFill>
                  <a:srgbClr val="192E4B"/>
                </a:solidFill>
                <a:latin typeface="Aptos"/>
              </a:defRPr>
            </a:pPr>
            <a:r>
              <a:t>Each function is assigned to a dedicated layer: documents enter through the portal, AI extracts evidence, validation checks it, and blockchain preserves integrity. The final report explains detected issues.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00A6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PROPCHAIN–AI  /  PROJECT REVIEW IV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Supports the Project and Product Goals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30352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02  • 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80192" y="64373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581912"/>
            <a:ext cx="5120640" cy="1225296"/>
          </a:xfrm>
          <a:prstGeom prst="roundRect">
            <a:avLst>
              <a:gd name="adj" fmla="val 1119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581912"/>
            <a:ext cx="73152" cy="1225296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728216"/>
            <a:ext cx="4791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GOAL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" y="2167128"/>
            <a:ext cx="47640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buyers, lawyers and banks review property papers using explainable checks and verifiable document hashes.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6419088" y="1581912"/>
            <a:ext cx="5120640" cy="1225296"/>
          </a:xfrm>
          <a:prstGeom prst="roundRect">
            <a:avLst>
              <a:gd name="adj" fmla="val 1119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088" y="1581912"/>
            <a:ext cx="73152" cy="1225296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1728216"/>
            <a:ext cx="4791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GOAL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01968" y="2167128"/>
            <a:ext cx="47640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working, modular, open-source prototype with Next.js, FastAPI, AI services and an EVM-compatible ledger.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704088" y="3355848"/>
            <a:ext cx="2020824" cy="987552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3355848"/>
            <a:ext cx="2020824" cy="82296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349300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6384" y="3813048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• Lawyer • Bank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2752344" y="3840480"/>
            <a:ext cx="228600" cy="0"/>
          </a:xfrm>
          <a:prstGeom prst="line">
            <a:avLst/>
          </a:prstGeom>
          <a:noFill/>
          <a:ln w="25400">
            <a:solidFill>
              <a:srgbClr val="3078D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026664" y="3355848"/>
            <a:ext cx="2020824" cy="987552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26664" y="3355848"/>
            <a:ext cx="2020824" cy="82296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36392" y="349300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08960" y="3813048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portal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5074920" y="3840480"/>
            <a:ext cx="228600" cy="0"/>
          </a:xfrm>
          <a:prstGeom prst="line">
            <a:avLst/>
          </a:prstGeom>
          <a:noFill/>
          <a:ln w="25400">
            <a:solidFill>
              <a:srgbClr val="3078D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349240" y="3355848"/>
            <a:ext cx="2020824" cy="987552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49240" y="3355848"/>
            <a:ext cx="2020824" cy="82296"/>
          </a:xfrm>
          <a:prstGeom prst="rect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58968" y="349300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API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31536" y="3813048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orchestration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7397496" y="3840480"/>
            <a:ext cx="228600" cy="0"/>
          </a:xfrm>
          <a:prstGeom prst="line">
            <a:avLst/>
          </a:prstGeom>
          <a:noFill/>
          <a:ln w="25400">
            <a:solidFill>
              <a:srgbClr val="3078DB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671816" y="3355848"/>
            <a:ext cx="2020824" cy="987552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71816" y="3355848"/>
            <a:ext cx="2020824" cy="82296"/>
          </a:xfrm>
          <a:prstGeom prst="rect">
            <a:avLst/>
          </a:prstGeom>
          <a:solidFill>
            <a:srgbClr val="36A46C"/>
          </a:solidFill>
          <a:ln w="12700">
            <a:solidFill>
              <a:srgbClr val="36A46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349300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54112" y="3813048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+ Rule Engine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9720072" y="3840480"/>
            <a:ext cx="228600" cy="0"/>
          </a:xfrm>
          <a:prstGeom prst="line">
            <a:avLst/>
          </a:prstGeom>
          <a:noFill/>
          <a:ln w="25400">
            <a:solidFill>
              <a:srgbClr val="3078DB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994392" y="3355848"/>
            <a:ext cx="2020824" cy="987552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94392" y="3355848"/>
            <a:ext cx="2020824" cy="82296"/>
          </a:xfrm>
          <a:prstGeom prst="rect">
            <a:avLst/>
          </a:prstGeom>
          <a:solidFill>
            <a:srgbClr val="E3AD43"/>
          </a:solidFill>
          <a:ln w="12700">
            <a:solidFill>
              <a:srgbClr val="E3AD4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04120" y="349300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076688" y="3813048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+ Blockchain</a:t>
            </a:r>
            <a:endParaRPr lang="en-US" sz="1040" dirty="0"/>
          </a:p>
        </p:txBody>
      </p:sp>
      <p:sp>
        <p:nvSpPr>
          <p:cNvPr id="40" name="Shape 38"/>
          <p:cNvSpPr/>
          <p:nvPr/>
        </p:nvSpPr>
        <p:spPr>
          <a:xfrm>
            <a:off x="640080" y="5065776"/>
            <a:ext cx="10927080" cy="384048"/>
          </a:xfrm>
          <a:prstGeom prst="roundRect">
            <a:avLst>
              <a:gd name="adj" fmla="val 357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111496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principle: original records remain off-chain; only hashes and verification events are anchored.</a:t>
            </a:r>
            <a:endParaRPr lang="en-US" sz="1130" dirty="0"/>
          </a:p>
        </p:txBody>
      </p:sp>
      <p:sp>
        <p:nvSpPr>
          <p:cNvPr id="42" name="Shape 40"/>
          <p:cNvSpPr/>
          <p:nvPr/>
        </p:nvSpPr>
        <p:spPr>
          <a:xfrm>
            <a:off x="640080" y="5065776"/>
            <a:ext cx="64008" cy="384048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43" name="Rounded Rectangle 42"/>
          <p:cNvSpPr/>
          <p:nvPr/>
        </p:nvSpPr>
        <p:spPr>
          <a:xfrm>
            <a:off x="630936" y="5715000"/>
            <a:ext cx="11045952" cy="630936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5760720"/>
            <a:ext cx="10716768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20">
                <a:solidFill>
                  <a:srgbClr val="192E4B"/>
                </a:solidFill>
                <a:latin typeface="Aptos"/>
              </a:defRPr>
            </a:pPr>
            <a:r>
              <a:t>The product aims to make document review clearer for buyers, lawyers and banks. The project goal is a practical, modular prototype that protects originals off-chain and records proof on-chain.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866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PROPCHAIN–AI  /  PROJECT REVIEW IV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Addressing Issues Raised by Requirements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30352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03  • 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80192" y="64373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55064"/>
            <a:ext cx="3456432" cy="1545336"/>
          </a:xfrm>
          <a:prstGeom prst="roundRect">
            <a:avLst>
              <a:gd name="adj" fmla="val 887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55064"/>
            <a:ext cx="73152" cy="1545336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0136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Unreadable scans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2240280"/>
            <a:ext cx="3099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 + format validation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4590288" y="1655064"/>
            <a:ext cx="3456432" cy="1545336"/>
          </a:xfrm>
          <a:prstGeom prst="roundRect">
            <a:avLst>
              <a:gd name="adj" fmla="val 887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0288" y="1655064"/>
            <a:ext cx="73152" cy="1545336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80136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records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73168" y="2240280"/>
            <a:ext cx="3099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Cross-document field matching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8449056" y="1655064"/>
            <a:ext cx="3456432" cy="1545336"/>
          </a:xfrm>
          <a:prstGeom prst="roundRect">
            <a:avLst>
              <a:gd name="adj" fmla="val 887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49056" y="1655064"/>
            <a:ext cx="73152" cy="1545336"/>
          </a:xfrm>
          <a:prstGeom prst="rect">
            <a:avLst/>
          </a:prstGeom>
          <a:solidFill>
            <a:srgbClr val="D96970"/>
          </a:solidFill>
          <a:ln w="12700">
            <a:solidFill>
              <a:srgbClr val="D969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31936" y="180136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Suspected forgery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31936" y="2240280"/>
            <a:ext cx="3099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flags and legal rules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731520" y="3602736"/>
            <a:ext cx="3456432" cy="1545336"/>
          </a:xfrm>
          <a:prstGeom prst="roundRect">
            <a:avLst>
              <a:gd name="adj" fmla="val 887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602736"/>
            <a:ext cx="73152" cy="1545336"/>
          </a:xfrm>
          <a:prstGeom prst="rect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749040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ownership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" y="4187952"/>
            <a:ext cx="3099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Chronological ownership graph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4590288" y="3602736"/>
            <a:ext cx="3456432" cy="1545336"/>
          </a:xfrm>
          <a:prstGeom prst="roundRect">
            <a:avLst>
              <a:gd name="adj" fmla="val 887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0288" y="3602736"/>
            <a:ext cx="73152" cy="1545336"/>
          </a:xfrm>
          <a:prstGeom prst="rect">
            <a:avLst/>
          </a:prstGeom>
          <a:solidFill>
            <a:srgbClr val="E3AD43"/>
          </a:solidFill>
          <a:ln w="12700">
            <a:solidFill>
              <a:srgbClr val="E3AD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749040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Tampering risk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773168" y="4187952"/>
            <a:ext cx="3099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SHA-256 blockchain anchoring</a:t>
            </a: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8449056" y="3602736"/>
            <a:ext cx="3456432" cy="1545336"/>
          </a:xfrm>
          <a:prstGeom prst="roundRect">
            <a:avLst>
              <a:gd name="adj" fmla="val 887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49056" y="3602736"/>
            <a:ext cx="73152" cy="1545336"/>
          </a:xfrm>
          <a:prstGeom prst="rect">
            <a:avLst/>
          </a:prstGeom>
          <a:solidFill>
            <a:srgbClr val="36A46C"/>
          </a:solidFill>
          <a:ln w="12700">
            <a:solidFill>
              <a:srgbClr val="36A4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31936" y="3749040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conclusions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631936" y="4187952"/>
            <a:ext cx="3099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Explanatory verification report</a:t>
            </a:r>
            <a:endParaRPr lang="en-US" sz="1240" dirty="0"/>
          </a:p>
        </p:txBody>
      </p:sp>
      <p:sp>
        <p:nvSpPr>
          <p:cNvPr id="32" name="Shape 30"/>
          <p:cNvSpPr/>
          <p:nvPr/>
        </p:nvSpPr>
        <p:spPr>
          <a:xfrm>
            <a:off x="640080" y="5806440"/>
            <a:ext cx="10927080" cy="384048"/>
          </a:xfrm>
          <a:prstGeom prst="roundRect">
            <a:avLst>
              <a:gd name="adj" fmla="val 357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585216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Scope: these are design responses to requirement risks; human/legal review remains necessary.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640080" y="5806440"/>
            <a:ext cx="64008" cy="384048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35" name="Rounded Rectangle 34"/>
          <p:cNvSpPr/>
          <p:nvPr/>
        </p:nvSpPr>
        <p:spPr>
          <a:xfrm>
            <a:off x="630936" y="5715000"/>
            <a:ext cx="11045952" cy="630936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5760720"/>
            <a:ext cx="10716768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20">
                <a:solidFill>
                  <a:srgbClr val="192E4B"/>
                </a:solidFill>
                <a:latin typeface="Aptos"/>
              </a:defRPr>
            </a:pPr>
            <a:r>
              <a:t>Unreadable scans, conflicting owner details and possible tampering are handled by OCR, cross-document checks and hash verification. Flagged findings are sent for human review rather than treated as legal proof.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00A6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PROPCHAIN–AI  /  PROJECT REVIEW IV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Modularity and Functional Independence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30352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04  • 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80192" y="64373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" y="1993392"/>
            <a:ext cx="2084832" cy="1499616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9496" y="1993392"/>
            <a:ext cx="2084832" cy="82296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13055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2450592"/>
            <a:ext cx="1920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OCRService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+ OCR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2642616" y="2670048"/>
            <a:ext cx="228600" cy="0"/>
          </a:xfrm>
          <a:prstGeom prst="line">
            <a:avLst/>
          </a:prstGeom>
          <a:noFill/>
          <a:ln w="25400">
            <a:solidFill>
              <a:srgbClr val="9EB0C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89504" y="1993392"/>
            <a:ext cx="2084832" cy="1499616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9504" y="1993392"/>
            <a:ext cx="2084832" cy="82296"/>
          </a:xfrm>
          <a:prstGeom prst="rect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9232" y="213055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71800" y="2450592"/>
            <a:ext cx="1920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NLPExtractor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+ extract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4992624" y="2670048"/>
            <a:ext cx="228600" cy="0"/>
          </a:xfrm>
          <a:prstGeom prst="line">
            <a:avLst/>
          </a:prstGeom>
          <a:noFill/>
          <a:ln w="25400">
            <a:solidFill>
              <a:srgbClr val="9EB0C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39512" y="1993392"/>
            <a:ext cx="2084832" cy="1499616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39512" y="1993392"/>
            <a:ext cx="2084832" cy="82296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213055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21808" y="2450592"/>
            <a:ext cx="1920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CrossValidator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fields + rules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7342632" y="2670048"/>
            <a:ext cx="228600" cy="0"/>
          </a:xfrm>
          <a:prstGeom prst="line">
            <a:avLst/>
          </a:prstGeom>
          <a:noFill/>
          <a:ln w="25400">
            <a:solidFill>
              <a:srgbClr val="9EB0C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589520" y="1993392"/>
            <a:ext cx="2084832" cy="1499616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993392"/>
            <a:ext cx="2084832" cy="82296"/>
          </a:xfrm>
          <a:prstGeom prst="rect">
            <a:avLst/>
          </a:prstGeom>
          <a:solidFill>
            <a:srgbClr val="E3AD43"/>
          </a:solidFill>
          <a:ln w="12700">
            <a:solidFill>
              <a:srgbClr val="E3AD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9248" y="213055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71816" y="2450592"/>
            <a:ext cx="1920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BlockchainService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+ anchor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9692640" y="2670048"/>
            <a:ext cx="228600" cy="0"/>
          </a:xfrm>
          <a:prstGeom prst="line">
            <a:avLst/>
          </a:prstGeom>
          <a:noFill/>
          <a:ln w="25400">
            <a:solidFill>
              <a:srgbClr val="9EB0C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39528" y="1993392"/>
            <a:ext cx="2084832" cy="1499616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39528" y="1993392"/>
            <a:ext cx="2084832" cy="82296"/>
          </a:xfrm>
          <a:prstGeom prst="rect">
            <a:avLst/>
          </a:prstGeom>
          <a:solidFill>
            <a:srgbClr val="36A46C"/>
          </a:solidFill>
          <a:ln w="12700">
            <a:solidFill>
              <a:srgbClr val="36A4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49256" y="213055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21824" y="2450592"/>
            <a:ext cx="1920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VerificationReport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+ result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1024128" y="4114800"/>
            <a:ext cx="10113264" cy="1033272"/>
          </a:xfrm>
          <a:prstGeom prst="roundRect">
            <a:avLst>
              <a:gd name="adj" fmla="val 13274"/>
            </a:avLst>
          </a:prstGeom>
          <a:solidFill>
            <a:srgbClr val="E6EDF7"/>
          </a:solidFill>
          <a:ln w="10160">
            <a:solidFill>
              <a:srgbClr val="E6ED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35608" y="4325112"/>
            <a:ext cx="9281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DEFINED INTERFACES &amp; SHARED DATA CONTRACTS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25880" y="4727448"/>
            <a:ext cx="9564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 can be mocked, independently tested, or replaced without rewriting the UI.</a:t>
            </a:r>
            <a:endParaRPr lang="en-US" sz="1300" dirty="0"/>
          </a:p>
        </p:txBody>
      </p:sp>
      <p:sp>
        <p:nvSpPr>
          <p:cNvPr id="35" name="Rounded Rectangle 34"/>
          <p:cNvSpPr/>
          <p:nvPr/>
        </p:nvSpPr>
        <p:spPr>
          <a:xfrm>
            <a:off x="630936" y="5715000"/>
            <a:ext cx="11045952" cy="630936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5760720"/>
            <a:ext cx="10716768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20">
                <a:solidFill>
                  <a:srgbClr val="192E4B"/>
                </a:solidFill>
                <a:latin typeface="Aptos"/>
              </a:defRPr>
            </a:pPr>
            <a:r>
              <a:t>The five modules handle ingestion, analysis, validation, integrity and reporting separately. Defined service interfaces allow testing or replacing one component without redesigning the whole application.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866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PROPCHAIN–AI  /  PROJECT REVIEW IV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Structural Diagrams: Core Class Model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30352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05  •  STRUCTURE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80192" y="64373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19072"/>
            <a:ext cx="2788920" cy="1106424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19072"/>
            <a:ext cx="2788920" cy="82296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85623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" y="2176272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· surveyNo · address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3840480" y="1719072"/>
            <a:ext cx="2788920" cy="1106424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1719072"/>
            <a:ext cx="2788920" cy="82296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185623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22776" y="2176272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· type · hash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7635240" y="1719072"/>
            <a:ext cx="3602736" cy="1106424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5240" y="1719072"/>
            <a:ext cx="3602736" cy="82296"/>
          </a:xfrm>
          <a:prstGeom prst="rect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44968" y="18562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ExtractedField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17536" y="2176272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· value · confidence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40080" y="3776472"/>
            <a:ext cx="2788920" cy="1106424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776472"/>
            <a:ext cx="2788920" cy="82296"/>
          </a:xfrm>
          <a:prstGeom prst="rect">
            <a:avLst/>
          </a:prstGeom>
          <a:solidFill>
            <a:srgbClr val="36A46C"/>
          </a:solidFill>
          <a:ln w="12700">
            <a:solidFill>
              <a:srgbClr val="36A4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91363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OwnershipRecord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" y="4233672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· dates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3840480" y="3776472"/>
            <a:ext cx="2788920" cy="1106424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0" y="3776472"/>
            <a:ext cx="2788920" cy="82296"/>
          </a:xfrm>
          <a:prstGeom prst="rect">
            <a:avLst/>
          </a:prstGeom>
          <a:solidFill>
            <a:srgbClr val="D96970"/>
          </a:solidFill>
          <a:ln w="12700">
            <a:solidFill>
              <a:srgbClr val="D969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50208" y="391363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RiskFlag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22776" y="4233672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· severity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7635240" y="3776472"/>
            <a:ext cx="3602736" cy="1106424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35240" y="3776472"/>
            <a:ext cx="3602736" cy="82296"/>
          </a:xfrm>
          <a:prstGeom prst="rect">
            <a:avLst/>
          </a:prstGeom>
          <a:solidFill>
            <a:srgbClr val="E3AD43"/>
          </a:solidFill>
          <a:ln w="12700">
            <a:solidFill>
              <a:srgbClr val="E3AD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44968" y="39136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BlockchainRecord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17536" y="4233672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· txId · blockNo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3429000" y="2267712"/>
            <a:ext cx="374904" cy="0"/>
          </a:xfrm>
          <a:prstGeom prst="line">
            <a:avLst/>
          </a:prstGeom>
          <a:noFill/>
          <a:ln w="25400">
            <a:solidFill>
              <a:srgbClr val="3078DB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47688" y="2267712"/>
            <a:ext cx="932688" cy="0"/>
          </a:xfrm>
          <a:prstGeom prst="line">
            <a:avLst/>
          </a:prstGeom>
          <a:noFill/>
          <a:ln w="25400">
            <a:solidFill>
              <a:srgbClr val="3078DB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029968" y="2862072"/>
            <a:ext cx="0" cy="877824"/>
          </a:xfrm>
          <a:prstGeom prst="line">
            <a:avLst/>
          </a:prstGeom>
          <a:noFill/>
          <a:ln w="25400">
            <a:solidFill>
              <a:srgbClr val="36A46C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221224" y="2862072"/>
            <a:ext cx="0" cy="877824"/>
          </a:xfrm>
          <a:prstGeom prst="line">
            <a:avLst/>
          </a:prstGeom>
          <a:noFill/>
          <a:ln w="25400">
            <a:solidFill>
              <a:srgbClr val="D96970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418320" y="2862072"/>
            <a:ext cx="0" cy="877824"/>
          </a:xfrm>
          <a:prstGeom prst="line">
            <a:avLst/>
          </a:prstGeom>
          <a:noFill/>
          <a:ln w="25400">
            <a:solidFill>
              <a:srgbClr val="E3AD43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3291840" y="19933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858768" y="20025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0..*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5806440"/>
            <a:ext cx="10927080" cy="384048"/>
          </a:xfrm>
          <a:prstGeom prst="roundRect">
            <a:avLst>
              <a:gd name="adj" fmla="val 357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5216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entities: LegalRule and VerificationReport; controls: OCRService, NLPExtractor, RuleEngine.</a:t>
            </a:r>
            <a:endParaRPr lang="en-US" sz="1130" dirty="0"/>
          </a:p>
        </p:txBody>
      </p:sp>
      <p:sp>
        <p:nvSpPr>
          <p:cNvPr id="41" name="Shape 39"/>
          <p:cNvSpPr/>
          <p:nvPr/>
        </p:nvSpPr>
        <p:spPr>
          <a:xfrm>
            <a:off x="640080" y="5806440"/>
            <a:ext cx="64008" cy="384048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42" name="Rounded Rectangle 41"/>
          <p:cNvSpPr/>
          <p:nvPr/>
        </p:nvSpPr>
        <p:spPr>
          <a:xfrm>
            <a:off x="630936" y="5715000"/>
            <a:ext cx="11045952" cy="630936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5760720"/>
            <a:ext cx="10716768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20">
                <a:solidFill>
                  <a:srgbClr val="192E4B"/>
                </a:solidFill>
                <a:latin typeface="Aptos"/>
              </a:defRPr>
            </a:pPr>
            <a:r>
              <a:t>Property is the central record linked to uploaded documents and ownership events. Extracted fields and risk flags capture analysis results, while blockchain records hold integrity references.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AD43"/>
          </a:solidFill>
          <a:ln w="12700">
            <a:solidFill>
              <a:srgbClr val="E3AD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E3AD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PROPCHAIN–AI  /  PROJECT REVIEW IV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Associations and Services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30352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06  •  STRUCTURE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80192" y="64373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86384" y="1527048"/>
            <a:ext cx="2761488" cy="557784"/>
          </a:xfrm>
          <a:prstGeom prst="roundRect">
            <a:avLst>
              <a:gd name="adj" fmla="val 2459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527048"/>
            <a:ext cx="2761488" cy="82296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66420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03320" y="1801368"/>
            <a:ext cx="3767328" cy="0"/>
          </a:xfrm>
          <a:prstGeom prst="line">
            <a:avLst/>
          </a:prstGeom>
          <a:noFill/>
          <a:ln w="21590">
            <a:solidFill>
              <a:srgbClr val="E3AD4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91456" y="1554480"/>
            <a:ext cx="1719072" cy="448056"/>
          </a:xfrm>
          <a:prstGeom prst="roundRect">
            <a:avLst>
              <a:gd name="adj" fmla="val 30612"/>
            </a:avLst>
          </a:prstGeom>
          <a:solidFill>
            <a:srgbClr val="FDF4DF"/>
          </a:solidFill>
          <a:ln w="10160">
            <a:solidFill>
              <a:srgbClr val="FDF4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609344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71816" y="1527048"/>
            <a:ext cx="3575304" cy="557784"/>
          </a:xfrm>
          <a:prstGeom prst="roundRect">
            <a:avLst>
              <a:gd name="adj" fmla="val 2459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71816" y="1527048"/>
            <a:ext cx="3575304" cy="82296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81544" y="1664208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948672" y="2139696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→ 0..*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86384" y="2340864"/>
            <a:ext cx="2761488" cy="557784"/>
          </a:xfrm>
          <a:prstGeom prst="roundRect">
            <a:avLst>
              <a:gd name="adj" fmla="val 2459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" y="2340864"/>
            <a:ext cx="2761488" cy="82296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47802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03320" y="2615184"/>
            <a:ext cx="3767328" cy="0"/>
          </a:xfrm>
          <a:prstGeom prst="line">
            <a:avLst/>
          </a:prstGeom>
          <a:noFill/>
          <a:ln w="21590">
            <a:solidFill>
              <a:srgbClr val="E3AD4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91456" y="2368296"/>
            <a:ext cx="1719072" cy="448056"/>
          </a:xfrm>
          <a:prstGeom prst="roundRect">
            <a:avLst>
              <a:gd name="adj" fmla="val 30612"/>
            </a:avLst>
          </a:prstGeom>
          <a:solidFill>
            <a:srgbClr val="FDF4DF"/>
          </a:solidFill>
          <a:ln w="10160">
            <a:solidFill>
              <a:srgbClr val="FDF4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2423160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71816" y="2340864"/>
            <a:ext cx="3575304" cy="557784"/>
          </a:xfrm>
          <a:prstGeom prst="roundRect">
            <a:avLst>
              <a:gd name="adj" fmla="val 2459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71816" y="2340864"/>
            <a:ext cx="3575304" cy="82296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81544" y="2478024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ExtractedField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48672" y="295351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→ 0..*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6384" y="3154680"/>
            <a:ext cx="2761488" cy="557784"/>
          </a:xfrm>
          <a:prstGeom prst="roundRect">
            <a:avLst>
              <a:gd name="adj" fmla="val 2459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" y="3154680"/>
            <a:ext cx="2761488" cy="82296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329184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703320" y="3429000"/>
            <a:ext cx="3767328" cy="0"/>
          </a:xfrm>
          <a:prstGeom prst="line">
            <a:avLst/>
          </a:prstGeom>
          <a:noFill/>
          <a:ln w="21590">
            <a:solidFill>
              <a:srgbClr val="E3AD43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791456" y="3182112"/>
            <a:ext cx="1719072" cy="448056"/>
          </a:xfrm>
          <a:prstGeom prst="roundRect">
            <a:avLst>
              <a:gd name="adj" fmla="val 30612"/>
            </a:avLst>
          </a:prstGeom>
          <a:solidFill>
            <a:srgbClr val="FDF4DF"/>
          </a:solidFill>
          <a:ln w="10160">
            <a:solidFill>
              <a:srgbClr val="FDF4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3236976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71816" y="3154680"/>
            <a:ext cx="3575304" cy="557784"/>
          </a:xfrm>
          <a:prstGeom prst="roundRect">
            <a:avLst>
              <a:gd name="adj" fmla="val 2459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71816" y="3154680"/>
            <a:ext cx="3575304" cy="82296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81544" y="3291840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OwnershipRecord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948672" y="376732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→ 1..*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86384" y="3968496"/>
            <a:ext cx="2761488" cy="557784"/>
          </a:xfrm>
          <a:prstGeom prst="roundRect">
            <a:avLst>
              <a:gd name="adj" fmla="val 2459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" y="3968496"/>
            <a:ext cx="2761488" cy="82296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" y="410565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RuleEngine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703320" y="4242816"/>
            <a:ext cx="3767328" cy="0"/>
          </a:xfrm>
          <a:prstGeom prst="line">
            <a:avLst/>
          </a:prstGeom>
          <a:noFill/>
          <a:ln w="21590">
            <a:solidFill>
              <a:srgbClr val="E3AD43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791456" y="3995928"/>
            <a:ext cx="1719072" cy="448056"/>
          </a:xfrm>
          <a:prstGeom prst="roundRect">
            <a:avLst>
              <a:gd name="adj" fmla="val 30612"/>
            </a:avLst>
          </a:prstGeom>
          <a:solidFill>
            <a:srgbClr val="FDF4DF"/>
          </a:solidFill>
          <a:ln w="10160">
            <a:solidFill>
              <a:srgbClr val="FDF4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0328" y="4050792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671816" y="3968496"/>
            <a:ext cx="3575304" cy="557784"/>
          </a:xfrm>
          <a:prstGeom prst="roundRect">
            <a:avLst>
              <a:gd name="adj" fmla="val 2459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71816" y="3968496"/>
            <a:ext cx="3575304" cy="82296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81544" y="4105656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RiskFlag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948672" y="4581144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→ 0..*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86384" y="4782312"/>
            <a:ext cx="2761488" cy="557784"/>
          </a:xfrm>
          <a:prstGeom prst="roundRect">
            <a:avLst>
              <a:gd name="adj" fmla="val 2459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6384" y="4782312"/>
            <a:ext cx="2761488" cy="82296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6112" y="49194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3703320" y="5056632"/>
            <a:ext cx="3767328" cy="0"/>
          </a:xfrm>
          <a:prstGeom prst="line">
            <a:avLst/>
          </a:prstGeom>
          <a:noFill/>
          <a:ln w="21590">
            <a:solidFill>
              <a:srgbClr val="E3AD43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791456" y="4809744"/>
            <a:ext cx="1719072" cy="448056"/>
          </a:xfrm>
          <a:prstGeom prst="roundRect">
            <a:avLst>
              <a:gd name="adj" fmla="val 30612"/>
            </a:avLst>
          </a:prstGeom>
          <a:solidFill>
            <a:srgbClr val="FDF4DF"/>
          </a:solidFill>
          <a:ln w="10160">
            <a:solidFill>
              <a:srgbClr val="FDF4D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0328" y="4864608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anchors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671816" y="4782312"/>
            <a:ext cx="3575304" cy="557784"/>
          </a:xfrm>
          <a:prstGeom prst="roundRect">
            <a:avLst>
              <a:gd name="adj" fmla="val 2459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71816" y="4782312"/>
            <a:ext cx="3575304" cy="82296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81544" y="4919472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BlockchainRecord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9948672" y="539496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→ 0..1</a:t>
            </a:r>
            <a:endParaRPr lang="en-US" sz="900" dirty="0"/>
          </a:p>
        </p:txBody>
      </p:sp>
      <p:sp>
        <p:nvSpPr>
          <p:cNvPr id="58" name="Rounded Rectangle 57"/>
          <p:cNvSpPr/>
          <p:nvPr/>
        </p:nvSpPr>
        <p:spPr>
          <a:xfrm>
            <a:off x="630936" y="5715000"/>
            <a:ext cx="11045952" cy="630936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6384" y="5760720"/>
            <a:ext cx="10716768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20">
                <a:solidFill>
                  <a:srgbClr val="192E4B"/>
                </a:solidFill>
                <a:latin typeface="Aptos"/>
              </a:defRPr>
            </a:pPr>
            <a:r>
              <a:t>Associations identify which class creates, contains or uses another class. Multiplicities explain expected counts, such as one property having several documents and one document yielding several fields.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PROPCHAIN–AI  /  PROJECT REVIEW IV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Clarity of Classes in the Design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30352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07  •  STRUCTURE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80192" y="64373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1627632"/>
            <a:ext cx="10451592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627632"/>
            <a:ext cx="164592" cy="1143000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792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CLASSES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77640" y="1773936"/>
            <a:ext cx="6894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Property, Document, ExtractedField, OwnershipRecord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221284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376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 persistent domain information.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68680" y="3026664"/>
            <a:ext cx="10451592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026664"/>
            <a:ext cx="164592" cy="1143000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1912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A6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CLASSES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77640" y="3172968"/>
            <a:ext cx="6894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OCRService, NLPExtractor, CrossValidator, RuleEngine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77640" y="361188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376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processing and decision-making.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868680" y="4425696"/>
            <a:ext cx="10451592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425696"/>
            <a:ext cx="164592" cy="1143000"/>
          </a:xfrm>
          <a:prstGeom prst="rect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45902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66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CLASSES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77640" y="4572000"/>
            <a:ext cx="6894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UploadPage, ReportPage, Dashboard, ChainGateway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77640" y="50109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376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users or outside systems.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640080" y="6044184"/>
            <a:ext cx="10927080" cy="384048"/>
          </a:xfrm>
          <a:prstGeom prst="roundRect">
            <a:avLst>
              <a:gd name="adj" fmla="val 357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6089904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class model distinguishes stored data, application logic and interfaces.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640080" y="6044184"/>
            <a:ext cx="64008" cy="384048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26" name="Rounded Rectangle 25"/>
          <p:cNvSpPr/>
          <p:nvPr/>
        </p:nvSpPr>
        <p:spPr>
          <a:xfrm>
            <a:off x="630936" y="5715000"/>
            <a:ext cx="11045952" cy="630936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5760720"/>
            <a:ext cx="10716768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20">
                <a:solidFill>
                  <a:srgbClr val="192E4B"/>
                </a:solidFill>
                <a:latin typeface="Aptos"/>
              </a:defRPr>
            </a:pPr>
            <a:r>
              <a:t>Entity classes store information, control classes perform verification, and boundary classes connect users or external systems. This separation makes responsibilities easier to understand and maintain.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866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PROPCHAIN–AI  /  PROJECT REVIEW IV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Appropriate Use of Inheritance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30352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08  •  STRUCTURE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80192" y="64373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1673352"/>
            <a:ext cx="3749040" cy="1033272"/>
          </a:xfrm>
          <a:prstGeom prst="roundRect">
            <a:avLst>
              <a:gd name="adj" fmla="val 1327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673352"/>
            <a:ext cx="3749040" cy="82296"/>
          </a:xfrm>
          <a:prstGeom prst="rect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5968" y="181051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ExtractorBase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88536" y="2130552"/>
            <a:ext cx="35844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extract() · validateInput()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1271016" y="3794760"/>
            <a:ext cx="3767328" cy="1088136"/>
          </a:xfrm>
          <a:prstGeom prst="roundRect">
            <a:avLst>
              <a:gd name="adj" fmla="val 12605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71016" y="3794760"/>
            <a:ext cx="3767328" cy="82296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0744" y="393192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OCRService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53312" y="4251960"/>
            <a:ext cx="36027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extractText(image / PDF)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7150608" y="3794760"/>
            <a:ext cx="3767328" cy="1088136"/>
          </a:xfrm>
          <a:prstGeom prst="roundRect">
            <a:avLst>
              <a:gd name="adj" fmla="val 12605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50608" y="3794760"/>
            <a:ext cx="3767328" cy="82296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0336" y="393192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NLPExtractor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32904" y="4251960"/>
            <a:ext cx="36027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extractEntities(text)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080760" y="2724912"/>
            <a:ext cx="0" cy="475488"/>
          </a:xfrm>
          <a:prstGeom prst="line">
            <a:avLst/>
          </a:prstGeom>
          <a:noFill/>
          <a:ln w="21590">
            <a:solidFill>
              <a:srgbClr val="8667CB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3154680" y="3200400"/>
            <a:ext cx="5861304" cy="0"/>
          </a:xfrm>
          <a:prstGeom prst="line">
            <a:avLst/>
          </a:prstGeom>
          <a:noFill/>
          <a:ln w="21590">
            <a:solidFill>
              <a:srgbClr val="8667CB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3154680" y="3758184"/>
            <a:ext cx="0" cy="-548640"/>
          </a:xfrm>
          <a:prstGeom prst="line">
            <a:avLst/>
          </a:prstGeom>
          <a:noFill/>
          <a:ln w="25400">
            <a:solidFill>
              <a:srgbClr val="8667C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15984" y="3758184"/>
            <a:ext cx="0" cy="-548640"/>
          </a:xfrm>
          <a:prstGeom prst="line">
            <a:avLst/>
          </a:prstGeom>
          <a:noFill/>
          <a:ln w="25400">
            <a:solidFill>
              <a:srgbClr val="8667C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99432" y="2907792"/>
            <a:ext cx="2980944" cy="292608"/>
          </a:xfrm>
          <a:prstGeom prst="roundRect">
            <a:avLst>
              <a:gd name="adj" fmla="val 46875"/>
            </a:avLst>
          </a:prstGeom>
          <a:solidFill>
            <a:srgbClr val="8667CB"/>
          </a:solidFill>
          <a:ln w="10160">
            <a:solidFill>
              <a:srgbClr val="8667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72584" y="29169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GENERALIZATION / “IS-A”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5669280"/>
            <a:ext cx="10927080" cy="384048"/>
          </a:xfrm>
          <a:prstGeom prst="roundRect">
            <a:avLst>
              <a:gd name="adj" fmla="val 357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571500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extraction contracts reduce duplication; domain entities are not forced into unnecessary inheritance.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640080" y="5669280"/>
            <a:ext cx="64008" cy="384048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29" name="Rounded Rectangle 28"/>
          <p:cNvSpPr/>
          <p:nvPr/>
        </p:nvSpPr>
        <p:spPr>
          <a:xfrm>
            <a:off x="630936" y="5715000"/>
            <a:ext cx="11045952" cy="630936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760720"/>
            <a:ext cx="10716768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20">
                <a:solidFill>
                  <a:srgbClr val="192E4B"/>
                </a:solidFill>
                <a:latin typeface="Aptos"/>
              </a:defRPr>
            </a:pPr>
            <a:r>
              <a:t>OCRService and NLPExtractor share a common extraction contract through ExtractorBase. Specialized subclasses implement different extraction methods without duplicating input-handling logic.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A46C"/>
          </a:solidFill>
          <a:ln w="12700">
            <a:solidFill>
              <a:srgbClr val="36A4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36A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PROPCHAIN–AI  /  PROJECT REVIEW IV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Multiplicity Across the Models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30352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09  •  STRUCTURE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80192" y="64373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9264" y="1572768"/>
            <a:ext cx="2743200" cy="621792"/>
          </a:xfrm>
          <a:prstGeom prst="roundRect">
            <a:avLst>
              <a:gd name="adj" fmla="val 2205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1572768"/>
            <a:ext cx="2743200" cy="82296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70992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30752" y="1874520"/>
            <a:ext cx="3950208" cy="0"/>
          </a:xfrm>
          <a:prstGeom prst="line">
            <a:avLst/>
          </a:prstGeom>
          <a:noFill/>
          <a:ln w="21590">
            <a:solidFill>
              <a:srgbClr val="213047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614416" y="1783080"/>
            <a:ext cx="164592" cy="164592"/>
          </a:xfrm>
          <a:prstGeom prst="ellipse">
            <a:avLst/>
          </a:prstGeom>
          <a:solidFill>
            <a:srgbClr val="36A46C"/>
          </a:solidFill>
          <a:ln w="12700">
            <a:solidFill>
              <a:srgbClr val="36A4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16093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6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20840" y="160934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6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0..*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08392" y="1572768"/>
            <a:ext cx="3383280" cy="621792"/>
          </a:xfrm>
          <a:prstGeom prst="roundRect">
            <a:avLst>
              <a:gd name="adj" fmla="val 2205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08392" y="1572768"/>
            <a:ext cx="3383280" cy="82296"/>
          </a:xfrm>
          <a:prstGeom prst="rect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170992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2267712"/>
            <a:ext cx="9784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6477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 can have many uploaded records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969264" y="2560320"/>
            <a:ext cx="2743200" cy="621792"/>
          </a:xfrm>
          <a:prstGeom prst="roundRect">
            <a:avLst>
              <a:gd name="adj" fmla="val 2205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2560320"/>
            <a:ext cx="2743200" cy="82296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26974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730752" y="2862072"/>
            <a:ext cx="3950208" cy="0"/>
          </a:xfrm>
          <a:prstGeom prst="line">
            <a:avLst/>
          </a:prstGeom>
          <a:noFill/>
          <a:ln w="21590">
            <a:solidFill>
              <a:srgbClr val="213047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5614416" y="2770632"/>
            <a:ext cx="164592" cy="164592"/>
          </a:xfrm>
          <a:prstGeom prst="ellipse">
            <a:avLst/>
          </a:prstGeom>
          <a:solidFill>
            <a:srgbClr val="36A46C"/>
          </a:solidFill>
          <a:ln w="12700">
            <a:solidFill>
              <a:srgbClr val="36A4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25968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6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20840" y="25968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6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0..*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08392" y="2560320"/>
            <a:ext cx="3383280" cy="621792"/>
          </a:xfrm>
          <a:prstGeom prst="roundRect">
            <a:avLst>
              <a:gd name="adj" fmla="val 2205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08392" y="2560320"/>
            <a:ext cx="3383280" cy="82296"/>
          </a:xfrm>
          <a:prstGeom prst="rect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8120" y="269748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ExtractedField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78992" y="3255264"/>
            <a:ext cx="9784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6477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extraction can produce many fields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969264" y="3547872"/>
            <a:ext cx="2743200" cy="621792"/>
          </a:xfrm>
          <a:prstGeom prst="roundRect">
            <a:avLst>
              <a:gd name="adj" fmla="val 2205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9264" y="3547872"/>
            <a:ext cx="2743200" cy="82296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" y="368503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730752" y="3849624"/>
            <a:ext cx="3950208" cy="0"/>
          </a:xfrm>
          <a:prstGeom prst="line">
            <a:avLst/>
          </a:prstGeom>
          <a:noFill/>
          <a:ln w="21590">
            <a:solidFill>
              <a:srgbClr val="213047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5614416" y="3758184"/>
            <a:ext cx="164592" cy="164592"/>
          </a:xfrm>
          <a:prstGeom prst="ellipse">
            <a:avLst/>
          </a:prstGeom>
          <a:solidFill>
            <a:srgbClr val="36A46C"/>
          </a:solidFill>
          <a:ln w="12700">
            <a:solidFill>
              <a:srgbClr val="36A4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77640" y="3584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6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20840" y="358444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6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1..*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708392" y="3547872"/>
            <a:ext cx="3383280" cy="621792"/>
          </a:xfrm>
          <a:prstGeom prst="roundRect">
            <a:avLst>
              <a:gd name="adj" fmla="val 2205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08392" y="3547872"/>
            <a:ext cx="3383280" cy="82296"/>
          </a:xfrm>
          <a:prstGeom prst="rect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18120" y="368503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OwnershipRecord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78992" y="4242816"/>
            <a:ext cx="9784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6477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comprises multiple ownership events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969264" y="4535424"/>
            <a:ext cx="2743200" cy="621792"/>
          </a:xfrm>
          <a:prstGeom prst="roundRect">
            <a:avLst>
              <a:gd name="adj" fmla="val 2205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9264" y="4535424"/>
            <a:ext cx="2743200" cy="82296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78992" y="467258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730752" y="4837176"/>
            <a:ext cx="3950208" cy="0"/>
          </a:xfrm>
          <a:prstGeom prst="line">
            <a:avLst/>
          </a:prstGeom>
          <a:noFill/>
          <a:ln w="21590">
            <a:solidFill>
              <a:srgbClr val="213047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5614416" y="4745736"/>
            <a:ext cx="164592" cy="164592"/>
          </a:xfrm>
          <a:prstGeom prst="ellipse">
            <a:avLst/>
          </a:prstGeom>
          <a:solidFill>
            <a:srgbClr val="36A46C"/>
          </a:solidFill>
          <a:ln w="12700">
            <a:solidFill>
              <a:srgbClr val="36A46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77640" y="45720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6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720840" y="45720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6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0..1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708392" y="4535424"/>
            <a:ext cx="3383280" cy="621792"/>
          </a:xfrm>
          <a:prstGeom prst="roundRect">
            <a:avLst>
              <a:gd name="adj" fmla="val 2205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08392" y="4535424"/>
            <a:ext cx="3383280" cy="82296"/>
          </a:xfrm>
          <a:prstGeom prst="rect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18120" y="467258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BlockchainRecord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78992" y="5230368"/>
            <a:ext cx="9784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6477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Anchor may be pending</a:t>
            </a:r>
            <a:endParaRPr lang="en-US" sz="1040" dirty="0"/>
          </a:p>
        </p:txBody>
      </p:sp>
      <p:sp>
        <p:nvSpPr>
          <p:cNvPr id="52" name="Rounded Rectangle 51"/>
          <p:cNvSpPr/>
          <p:nvPr/>
        </p:nvSpPr>
        <p:spPr>
          <a:xfrm>
            <a:off x="630936" y="5715000"/>
            <a:ext cx="11045952" cy="630936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384" y="5760720"/>
            <a:ext cx="10716768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20">
                <a:solidFill>
                  <a:srgbClr val="192E4B"/>
                </a:solidFill>
                <a:latin typeface="Aptos"/>
              </a:defRPr>
            </a:pPr>
            <a:r>
              <a:t>Multiplicity labels describe how records relate over time. A property can have multiple documents and ownership events, whereas an individual document may not yet have a blockchain anchor.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00A6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PROPCHAIN–AI  /  PROJECT REVIEW IV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Objects Participating in the Sequence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30352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10  •  BEHAVIOUR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80192" y="64373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" y="1655064"/>
            <a:ext cx="1499616" cy="484632"/>
          </a:xfrm>
          <a:prstGeom prst="roundRect">
            <a:avLst>
              <a:gd name="adj" fmla="val 28302"/>
            </a:avLst>
          </a:prstGeom>
          <a:solidFill>
            <a:srgbClr val="00A69D"/>
          </a:solidFill>
          <a:ln w="10160">
            <a:solidFill>
              <a:srgbClr val="00A6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773936"/>
            <a:ext cx="1399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1143000" y="2194560"/>
            <a:ext cx="0" cy="3337560"/>
          </a:xfrm>
          <a:prstGeom prst="line">
            <a:avLst/>
          </a:prstGeom>
          <a:noFill/>
          <a:ln w="12700">
            <a:solidFill>
              <a:srgbClr val="A7B9CB"/>
            </a:solidFill>
            <a:prstDash val="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075688" y="1655064"/>
            <a:ext cx="1499616" cy="484632"/>
          </a:xfrm>
          <a:prstGeom prst="roundRect">
            <a:avLst>
              <a:gd name="adj" fmla="val 28302"/>
            </a:avLst>
          </a:prstGeom>
          <a:solidFill>
            <a:srgbClr val="3078DB"/>
          </a:solidFill>
          <a:ln w="10160">
            <a:solidFill>
              <a:srgbClr val="307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1408" y="1773936"/>
            <a:ext cx="1399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UploadPage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2825496" y="2194560"/>
            <a:ext cx="0" cy="3337560"/>
          </a:xfrm>
          <a:prstGeom prst="line">
            <a:avLst/>
          </a:prstGeom>
          <a:noFill/>
          <a:ln w="12700">
            <a:solidFill>
              <a:srgbClr val="A7B9CB"/>
            </a:solidFill>
            <a:prstDash val="dash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758184" y="1655064"/>
            <a:ext cx="1499616" cy="484632"/>
          </a:xfrm>
          <a:prstGeom prst="roundRect">
            <a:avLst>
              <a:gd name="adj" fmla="val 28302"/>
            </a:avLst>
          </a:prstGeom>
          <a:solidFill>
            <a:srgbClr val="00A69D"/>
          </a:solidFill>
          <a:ln w="10160">
            <a:solidFill>
              <a:srgbClr val="00A6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1773936"/>
            <a:ext cx="1399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4507992" y="2194560"/>
            <a:ext cx="0" cy="3337560"/>
          </a:xfrm>
          <a:prstGeom prst="line">
            <a:avLst/>
          </a:prstGeom>
          <a:noFill/>
          <a:ln w="12700">
            <a:solidFill>
              <a:srgbClr val="A7B9CB"/>
            </a:solidFill>
            <a:prstDash val="dash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440680" y="1655064"/>
            <a:ext cx="1499616" cy="484632"/>
          </a:xfrm>
          <a:prstGeom prst="roundRect">
            <a:avLst>
              <a:gd name="adj" fmla="val 28302"/>
            </a:avLst>
          </a:prstGeom>
          <a:solidFill>
            <a:srgbClr val="3078DB"/>
          </a:solidFill>
          <a:ln w="10160">
            <a:solidFill>
              <a:srgbClr val="3078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1773936"/>
            <a:ext cx="1399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OCRService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6190488" y="2194560"/>
            <a:ext cx="0" cy="3337560"/>
          </a:xfrm>
          <a:prstGeom prst="line">
            <a:avLst/>
          </a:prstGeom>
          <a:noFill/>
          <a:ln w="12700">
            <a:solidFill>
              <a:srgbClr val="A7B9CB"/>
            </a:solidFill>
            <a:prstDash val="dash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123176" y="1655064"/>
            <a:ext cx="1499616" cy="484632"/>
          </a:xfrm>
          <a:prstGeom prst="roundRect">
            <a:avLst>
              <a:gd name="adj" fmla="val 28302"/>
            </a:avLst>
          </a:prstGeom>
          <a:solidFill>
            <a:srgbClr val="00A69D"/>
          </a:solidFill>
          <a:ln w="10160">
            <a:solidFill>
              <a:srgbClr val="00A6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68896" y="1773936"/>
            <a:ext cx="1399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NLPExtractor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7872984" y="2194560"/>
            <a:ext cx="0" cy="3337560"/>
          </a:xfrm>
          <a:prstGeom prst="line">
            <a:avLst/>
          </a:prstGeom>
          <a:noFill/>
          <a:ln w="12700">
            <a:solidFill>
              <a:srgbClr val="A7B9CB"/>
            </a:solidFill>
            <a:prstDash val="dash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805672" y="1655064"/>
            <a:ext cx="1499616" cy="484632"/>
          </a:xfrm>
          <a:prstGeom prst="roundRect">
            <a:avLst>
              <a:gd name="adj" fmla="val 28302"/>
            </a:avLst>
          </a:prstGeom>
          <a:solidFill>
            <a:srgbClr val="3078DB"/>
          </a:solidFill>
          <a:ln w="10160">
            <a:solidFill>
              <a:srgbClr val="3078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51392" y="1773936"/>
            <a:ext cx="1399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CrossValidator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9555480" y="2194560"/>
            <a:ext cx="0" cy="3337560"/>
          </a:xfrm>
          <a:prstGeom prst="line">
            <a:avLst/>
          </a:prstGeom>
          <a:noFill/>
          <a:ln w="12700">
            <a:solidFill>
              <a:srgbClr val="A7B9CB"/>
            </a:solidFill>
            <a:prstDash val="dash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0488168" y="1655064"/>
            <a:ext cx="1499616" cy="484632"/>
          </a:xfrm>
          <a:prstGeom prst="roundRect">
            <a:avLst>
              <a:gd name="adj" fmla="val 28302"/>
            </a:avLst>
          </a:prstGeom>
          <a:solidFill>
            <a:srgbClr val="00A69D"/>
          </a:solidFill>
          <a:ln w="10160">
            <a:solidFill>
              <a:srgbClr val="00A69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33888" y="1773936"/>
            <a:ext cx="1399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BlockchainService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11237976" y="2194560"/>
            <a:ext cx="0" cy="3337560"/>
          </a:xfrm>
          <a:prstGeom prst="line">
            <a:avLst/>
          </a:prstGeom>
          <a:noFill/>
          <a:ln w="12700">
            <a:solidFill>
              <a:srgbClr val="A7B9CB"/>
            </a:solidFill>
            <a:prstDash val="dash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143000" y="2514600"/>
            <a:ext cx="1682496" cy="0"/>
          </a:xfrm>
          <a:prstGeom prst="line">
            <a:avLst/>
          </a:prstGeom>
          <a:noFill/>
          <a:ln w="19050">
            <a:solidFill>
              <a:srgbClr val="3078DB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133856" y="231343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upload(file)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2825496" y="2962656"/>
            <a:ext cx="1682496" cy="0"/>
          </a:xfrm>
          <a:prstGeom prst="line">
            <a:avLst/>
          </a:prstGeom>
          <a:noFill/>
          <a:ln w="19050">
            <a:solidFill>
              <a:srgbClr val="00A69D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2816352" y="276148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/documents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4507992" y="3410712"/>
            <a:ext cx="1682496" cy="0"/>
          </a:xfrm>
          <a:prstGeom prst="line">
            <a:avLst/>
          </a:prstGeom>
          <a:noFill/>
          <a:ln w="19050">
            <a:solidFill>
              <a:srgbClr val="8667CB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4498848" y="320954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extractText()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6190488" y="3858768"/>
            <a:ext cx="1682496" cy="0"/>
          </a:xfrm>
          <a:prstGeom prst="line">
            <a:avLst/>
          </a:prstGeom>
          <a:noFill/>
          <a:ln w="19050">
            <a:solidFill>
              <a:srgbClr val="3078DB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181344" y="365760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extractEntities()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7872984" y="4306824"/>
            <a:ext cx="1682496" cy="0"/>
          </a:xfrm>
          <a:prstGeom prst="line">
            <a:avLst/>
          </a:prstGeom>
          <a:noFill/>
          <a:ln w="19050">
            <a:solidFill>
              <a:srgbClr val="00A69D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7863840" y="410565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validate(fields)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9555480" y="4754880"/>
            <a:ext cx="1682496" cy="0"/>
          </a:xfrm>
          <a:prstGeom prst="line">
            <a:avLst/>
          </a:prstGeom>
          <a:noFill/>
          <a:ln w="19050">
            <a:solidFill>
              <a:srgbClr val="8667CB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9546336" y="455371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recordHash()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640080" y="5824728"/>
            <a:ext cx="10927080" cy="384048"/>
          </a:xfrm>
          <a:prstGeom prst="roundRect">
            <a:avLst>
              <a:gd name="adj" fmla="val 357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" y="5870448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lifelines correspond to actors, boundary objects and control services from the class model.</a:t>
            </a:r>
            <a:endParaRPr lang="en-US" sz="1130" dirty="0"/>
          </a:p>
        </p:txBody>
      </p:sp>
      <p:sp>
        <p:nvSpPr>
          <p:cNvPr id="43" name="Shape 41"/>
          <p:cNvSpPr/>
          <p:nvPr/>
        </p:nvSpPr>
        <p:spPr>
          <a:xfrm>
            <a:off x="640080" y="5824728"/>
            <a:ext cx="64008" cy="384048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44" name="Rounded Rectangle 43"/>
          <p:cNvSpPr/>
          <p:nvPr/>
        </p:nvSpPr>
        <p:spPr>
          <a:xfrm>
            <a:off x="630936" y="5715000"/>
            <a:ext cx="11045952" cy="630936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5760720"/>
            <a:ext cx="10716768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20">
                <a:solidFill>
                  <a:srgbClr val="192E4B"/>
                </a:solidFill>
                <a:latin typeface="Aptos"/>
              </a:defRPr>
            </a:pPr>
            <a:r>
              <a:t>The sequence follows a document from upload to OCR, entity extraction, validation and blockchain recording. Each message belongs to a participating object or service in the architecture.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AD43"/>
          </a:solidFill>
          <a:ln w="12700">
            <a:solidFill>
              <a:srgbClr val="E3AD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E3AD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PROPCHAIN–AI  /  PROJECT REVIEW IV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Standard Symbols and Conventions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30352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11  •  MODELLING STANDARDS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80192" y="64373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22376" y="1700784"/>
            <a:ext cx="3438144" cy="1655064"/>
          </a:xfrm>
          <a:prstGeom prst="roundRect">
            <a:avLst>
              <a:gd name="adj" fmla="val 828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1892808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32688" y="2359152"/>
            <a:ext cx="1618488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2359152"/>
            <a:ext cx="1618488" cy="82296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496312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81635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: String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2734056" y="2404872"/>
            <a:ext cx="12435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96C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name / attributes / operations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44568" y="1700784"/>
            <a:ext cx="3438144" cy="1655064"/>
          </a:xfrm>
          <a:prstGeom prst="roundRect">
            <a:avLst>
              <a:gd name="adj" fmla="val 828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736" y="1892808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A6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18888" y="2679192"/>
            <a:ext cx="2450592" cy="0"/>
          </a:xfrm>
          <a:prstGeom prst="line">
            <a:avLst/>
          </a:prstGeom>
          <a:noFill/>
          <a:ln w="25400">
            <a:solidFill>
              <a:srgbClr val="00A69D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556248" y="2404872"/>
            <a:ext cx="12435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96C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Solid connector with multiplicity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366760" y="1700784"/>
            <a:ext cx="3438144" cy="1655064"/>
          </a:xfrm>
          <a:prstGeom prst="roundRect">
            <a:avLst>
              <a:gd name="adj" fmla="val 828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67928" y="1892808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66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86800" y="2734056"/>
            <a:ext cx="2240280" cy="0"/>
          </a:xfrm>
          <a:prstGeom prst="line">
            <a:avLst/>
          </a:prstGeom>
          <a:noFill/>
          <a:ln w="25400">
            <a:solidFill>
              <a:srgbClr val="8667C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1018520" y="263347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78440" y="2404872"/>
            <a:ext cx="12435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96C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triangle toward parent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2376" y="3767328"/>
            <a:ext cx="3438144" cy="1655064"/>
          </a:xfrm>
          <a:prstGeom prst="roundRect">
            <a:avLst>
              <a:gd name="adj" fmla="val 828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" y="3959352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6A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25880" y="4416552"/>
            <a:ext cx="292608" cy="292608"/>
          </a:xfrm>
          <a:prstGeom prst="ellipse">
            <a:avLst/>
          </a:prstGeom>
          <a:solidFill>
            <a:srgbClr val="36A46C"/>
          </a:solidFill>
          <a:ln w="12700">
            <a:solidFill>
              <a:srgbClr val="36A46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72184" y="4709160"/>
            <a:ext cx="0" cy="411480"/>
          </a:xfrm>
          <a:prstGeom prst="line">
            <a:avLst/>
          </a:prstGeom>
          <a:noFill/>
          <a:ln w="25400">
            <a:solidFill>
              <a:srgbClr val="36A46C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179576" y="4873752"/>
            <a:ext cx="576072" cy="0"/>
          </a:xfrm>
          <a:prstGeom prst="line">
            <a:avLst/>
          </a:prstGeom>
          <a:noFill/>
          <a:ln w="25400">
            <a:solidFill>
              <a:srgbClr val="36A46C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2734056" y="4471416"/>
            <a:ext cx="12435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96C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user or system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44568" y="3767328"/>
            <a:ext cx="3438144" cy="1655064"/>
          </a:xfrm>
          <a:prstGeom prst="roundRect">
            <a:avLst>
              <a:gd name="adj" fmla="val 828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45736" y="3959352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3AD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55464" y="4489704"/>
            <a:ext cx="1828800" cy="566928"/>
          </a:xfrm>
          <a:prstGeom prst="ellipse">
            <a:avLst/>
          </a:prstGeom>
          <a:solidFill>
            <a:srgbClr val="EDF3FD"/>
          </a:solidFill>
          <a:ln w="19050">
            <a:solidFill>
              <a:srgbClr val="E3AD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56248" y="4471416"/>
            <a:ext cx="12435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96C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Ellipse for a user goal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66760" y="3767328"/>
            <a:ext cx="3438144" cy="1655064"/>
          </a:xfrm>
          <a:prstGeom prst="roundRect">
            <a:avLst>
              <a:gd name="adj" fmla="val 828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67928" y="3959352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69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/ ACTIVITY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95360" y="4507992"/>
            <a:ext cx="2039112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95360" y="4507992"/>
            <a:ext cx="2039112" cy="82296"/>
          </a:xfrm>
          <a:prstGeom prst="rect">
            <a:avLst/>
          </a:prstGeom>
          <a:solidFill>
            <a:srgbClr val="D96970"/>
          </a:solidFill>
          <a:ln w="12700">
            <a:solidFill>
              <a:srgbClr val="D969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05088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378440" y="4471416"/>
            <a:ext cx="12435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96C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state and directed transition</a:t>
            </a:r>
            <a:endParaRPr lang="en-US" sz="950" dirty="0"/>
          </a:p>
        </p:txBody>
      </p:sp>
      <p:sp>
        <p:nvSpPr>
          <p:cNvPr id="40" name="Rounded Rectangle 39"/>
          <p:cNvSpPr/>
          <p:nvPr/>
        </p:nvSpPr>
        <p:spPr>
          <a:xfrm>
            <a:off x="630936" y="5715000"/>
            <a:ext cx="11045952" cy="630936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5760720"/>
            <a:ext cx="10716768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20">
                <a:solidFill>
                  <a:srgbClr val="192E4B"/>
                </a:solidFill>
                <a:latin typeface="Aptos"/>
              </a:defRPr>
            </a:pPr>
            <a:r>
              <a:t>Standard UML conventions make the design interpretable: class boxes identify structure, labelled lines show relationships, actors represent external users, and arrows indicate transitions.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866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PROPCHAIN–AI  /  PROJECT REVIEW IV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Behavioural Diagrams: Three Perspectives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30352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12  •  BEHAVIOUR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80192" y="64373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1627632"/>
            <a:ext cx="3575304" cy="3410712"/>
          </a:xfrm>
          <a:prstGeom prst="roundRect">
            <a:avLst>
              <a:gd name="adj" fmla="val 402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627632"/>
            <a:ext cx="73152" cy="3410712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773936"/>
            <a:ext cx="3246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4672" y="2212848"/>
            <a:ext cx="321868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interacts?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877824" y="3008376"/>
            <a:ext cx="3035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uploads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Lawyer reviews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verifies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35424" y="1627632"/>
            <a:ext cx="3575304" cy="3410712"/>
          </a:xfrm>
          <a:prstGeom prst="roundRect">
            <a:avLst>
              <a:gd name="adj" fmla="val 402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35424" y="1627632"/>
            <a:ext cx="73152" cy="3410712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773936"/>
            <a:ext cx="3246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18304" y="2212848"/>
            <a:ext cx="321868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what order?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4791456" y="3008376"/>
            <a:ext cx="3035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→ API → OCR → NLP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validation → anchor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449056" y="1627632"/>
            <a:ext cx="3575304" cy="3410712"/>
          </a:xfrm>
          <a:prstGeom prst="roundRect">
            <a:avLst>
              <a:gd name="adj" fmla="val 402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49056" y="1627632"/>
            <a:ext cx="73152" cy="3410712"/>
          </a:xfrm>
          <a:prstGeom prst="rect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31936" y="1773936"/>
            <a:ext cx="3246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31936" y="2212848"/>
            <a:ext cx="321868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decisions?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8705088" y="3008376"/>
            <a:ext cx="3035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→ analyse → rules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verified / review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5724144"/>
            <a:ext cx="10927080" cy="384048"/>
          </a:xfrm>
          <a:prstGeom prst="roundRect">
            <a:avLst>
              <a:gd name="adj" fmla="val 357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5769864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verification workflow is modelled from actor, messaging and process perspectives.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640080" y="5724144"/>
            <a:ext cx="64008" cy="384048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26" name="Rounded Rectangle 25"/>
          <p:cNvSpPr/>
          <p:nvPr/>
        </p:nvSpPr>
        <p:spPr>
          <a:xfrm>
            <a:off x="630936" y="5715000"/>
            <a:ext cx="11045952" cy="630936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5760720"/>
            <a:ext cx="10716768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20">
                <a:solidFill>
                  <a:srgbClr val="192E4B"/>
                </a:solidFill>
                <a:latin typeface="Aptos"/>
              </a:defRPr>
            </a:pPr>
            <a:r>
              <a:t>Use-case diagrams show user goals, sequence diagrams show message order, and activity diagrams show processing decisions. Together they describe one consistent verification experience.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PROPCHAIN–AI  /  PROJECT REVIEW IV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Actors, Inputs and Outputs for Every Use Case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30352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13  •  BEHAVIOUR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80192" y="64373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15270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5270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35624" y="1527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78824" y="1527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" y="1892808"/>
            <a:ext cx="10899648" cy="512064"/>
          </a:xfrm>
          <a:prstGeom prst="roundRect">
            <a:avLst>
              <a:gd name="adj" fmla="val 2678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9842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/ Seller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2843784" y="19842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document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6153912" y="1984248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/ image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8897112" y="1984248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Stored document</a:t>
            </a:r>
            <a:endParaRPr lang="en-US" sz="1210" dirty="0"/>
          </a:p>
        </p:txBody>
      </p:sp>
      <p:sp>
        <p:nvSpPr>
          <p:cNvPr id="17" name="Shape 15"/>
          <p:cNvSpPr/>
          <p:nvPr/>
        </p:nvSpPr>
        <p:spPr>
          <a:xfrm>
            <a:off x="667512" y="2514600"/>
            <a:ext cx="10899648" cy="512064"/>
          </a:xfrm>
          <a:prstGeom prst="roundRect">
            <a:avLst>
              <a:gd name="adj" fmla="val 26786"/>
            </a:avLst>
          </a:prstGeom>
          <a:solidFill>
            <a:srgbClr val="EAF1F9"/>
          </a:solidFill>
          <a:ln w="10160">
            <a:solidFill>
              <a:srgbClr val="EAF1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6060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/ Seller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2843784" y="26060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verification</a:t>
            </a:r>
            <a:endParaRPr lang="en-US" sz="1210" dirty="0"/>
          </a:p>
        </p:txBody>
      </p:sp>
      <p:sp>
        <p:nvSpPr>
          <p:cNvPr id="20" name="Text 18"/>
          <p:cNvSpPr/>
          <p:nvPr/>
        </p:nvSpPr>
        <p:spPr>
          <a:xfrm>
            <a:off x="6153912" y="2606040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ID</a:t>
            </a:r>
            <a:endParaRPr lang="en-US" sz="1210" dirty="0"/>
          </a:p>
        </p:txBody>
      </p:sp>
      <p:sp>
        <p:nvSpPr>
          <p:cNvPr id="21" name="Text 19"/>
          <p:cNvSpPr/>
          <p:nvPr/>
        </p:nvSpPr>
        <p:spPr>
          <a:xfrm>
            <a:off x="8897112" y="2606040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report</a:t>
            </a:r>
            <a:endParaRPr lang="en-US" sz="1210" dirty="0"/>
          </a:p>
        </p:txBody>
      </p:sp>
      <p:sp>
        <p:nvSpPr>
          <p:cNvPr id="22" name="Shape 20"/>
          <p:cNvSpPr/>
          <p:nvPr/>
        </p:nvSpPr>
        <p:spPr>
          <a:xfrm>
            <a:off x="667512" y="3136392"/>
            <a:ext cx="10899648" cy="512064"/>
          </a:xfrm>
          <a:prstGeom prst="roundRect">
            <a:avLst>
              <a:gd name="adj" fmla="val 2678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2278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Lawyer</a:t>
            </a:r>
            <a:endParaRPr lang="en-US" sz="1210" dirty="0"/>
          </a:p>
        </p:txBody>
      </p:sp>
      <p:sp>
        <p:nvSpPr>
          <p:cNvPr id="24" name="Text 22"/>
          <p:cNvSpPr/>
          <p:nvPr/>
        </p:nvSpPr>
        <p:spPr>
          <a:xfrm>
            <a:off x="2843784" y="322783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flagged items</a:t>
            </a:r>
            <a:endParaRPr lang="en-US" sz="1210" dirty="0"/>
          </a:p>
        </p:txBody>
      </p:sp>
      <p:sp>
        <p:nvSpPr>
          <p:cNvPr id="25" name="Text 23"/>
          <p:cNvSpPr/>
          <p:nvPr/>
        </p:nvSpPr>
        <p:spPr>
          <a:xfrm>
            <a:off x="6153912" y="322783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flags</a:t>
            </a:r>
            <a:endParaRPr lang="en-US" sz="1210" dirty="0"/>
          </a:p>
        </p:txBody>
      </p:sp>
      <p:sp>
        <p:nvSpPr>
          <p:cNvPr id="26" name="Text 24"/>
          <p:cNvSpPr/>
          <p:nvPr/>
        </p:nvSpPr>
        <p:spPr>
          <a:xfrm>
            <a:off x="8897112" y="322783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Corrections</a:t>
            </a:r>
            <a:endParaRPr lang="en-US" sz="1210" dirty="0"/>
          </a:p>
        </p:txBody>
      </p:sp>
      <p:sp>
        <p:nvSpPr>
          <p:cNvPr id="27" name="Shape 25"/>
          <p:cNvSpPr/>
          <p:nvPr/>
        </p:nvSpPr>
        <p:spPr>
          <a:xfrm>
            <a:off x="667512" y="3758184"/>
            <a:ext cx="10899648" cy="512064"/>
          </a:xfrm>
          <a:prstGeom prst="roundRect">
            <a:avLst>
              <a:gd name="adj" fmla="val 26786"/>
            </a:avLst>
          </a:prstGeom>
          <a:solidFill>
            <a:srgbClr val="EAF1F9"/>
          </a:solidFill>
          <a:ln w="10160">
            <a:solidFill>
              <a:srgbClr val="EAF1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38496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Lawyer</a:t>
            </a:r>
            <a:endParaRPr lang="en-US" sz="1210" dirty="0"/>
          </a:p>
        </p:txBody>
      </p:sp>
      <p:sp>
        <p:nvSpPr>
          <p:cNvPr id="29" name="Text 27"/>
          <p:cNvSpPr/>
          <p:nvPr/>
        </p:nvSpPr>
        <p:spPr>
          <a:xfrm>
            <a:off x="2843784" y="38496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ownership chain</a:t>
            </a:r>
            <a:endParaRPr lang="en-US" sz="1210" dirty="0"/>
          </a:p>
        </p:txBody>
      </p:sp>
      <p:sp>
        <p:nvSpPr>
          <p:cNvPr id="30" name="Text 28"/>
          <p:cNvSpPr/>
          <p:nvPr/>
        </p:nvSpPr>
        <p:spPr>
          <a:xfrm>
            <a:off x="6153912" y="384962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 reference</a:t>
            </a:r>
            <a:endParaRPr lang="en-US" sz="1210" dirty="0"/>
          </a:p>
        </p:txBody>
      </p:sp>
      <p:sp>
        <p:nvSpPr>
          <p:cNvPr id="31" name="Text 29"/>
          <p:cNvSpPr/>
          <p:nvPr/>
        </p:nvSpPr>
        <p:spPr>
          <a:xfrm>
            <a:off x="8897112" y="384962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history</a:t>
            </a:r>
            <a:endParaRPr lang="en-US" sz="1210" dirty="0"/>
          </a:p>
        </p:txBody>
      </p:sp>
      <p:sp>
        <p:nvSpPr>
          <p:cNvPr id="32" name="Shape 30"/>
          <p:cNvSpPr/>
          <p:nvPr/>
        </p:nvSpPr>
        <p:spPr>
          <a:xfrm>
            <a:off x="667512" y="4379976"/>
            <a:ext cx="10899648" cy="512064"/>
          </a:xfrm>
          <a:prstGeom prst="roundRect">
            <a:avLst>
              <a:gd name="adj" fmla="val 2678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" y="44714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2843784" y="44714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fingerprint</a:t>
            </a:r>
            <a:endParaRPr lang="en-US" sz="1210" dirty="0"/>
          </a:p>
        </p:txBody>
      </p:sp>
      <p:sp>
        <p:nvSpPr>
          <p:cNvPr id="35" name="Text 33"/>
          <p:cNvSpPr/>
          <p:nvPr/>
        </p:nvSpPr>
        <p:spPr>
          <a:xfrm>
            <a:off x="6153912" y="4471416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hash</a:t>
            </a:r>
            <a:endParaRPr lang="en-US" sz="1210" dirty="0"/>
          </a:p>
        </p:txBody>
      </p:sp>
      <p:sp>
        <p:nvSpPr>
          <p:cNvPr id="36" name="Text 34"/>
          <p:cNvSpPr/>
          <p:nvPr/>
        </p:nvSpPr>
        <p:spPr>
          <a:xfrm>
            <a:off x="8897112" y="4471416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result</a:t>
            </a:r>
            <a:endParaRPr lang="en-US" sz="1210" dirty="0"/>
          </a:p>
        </p:txBody>
      </p:sp>
      <p:sp>
        <p:nvSpPr>
          <p:cNvPr id="37" name="Shape 35"/>
          <p:cNvSpPr/>
          <p:nvPr/>
        </p:nvSpPr>
        <p:spPr>
          <a:xfrm>
            <a:off x="667512" y="5001768"/>
            <a:ext cx="10899648" cy="512064"/>
          </a:xfrm>
          <a:prstGeom prst="roundRect">
            <a:avLst>
              <a:gd name="adj" fmla="val 26786"/>
            </a:avLst>
          </a:prstGeom>
          <a:solidFill>
            <a:srgbClr val="EAF1F9"/>
          </a:solidFill>
          <a:ln w="10160">
            <a:solidFill>
              <a:srgbClr val="EAF1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" y="50932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</a:t>
            </a:r>
            <a:endParaRPr lang="en-US" sz="1210" dirty="0"/>
          </a:p>
        </p:txBody>
      </p:sp>
      <p:sp>
        <p:nvSpPr>
          <p:cNvPr id="39" name="Text 37"/>
          <p:cNvSpPr/>
          <p:nvPr/>
        </p:nvSpPr>
        <p:spPr>
          <a:xfrm>
            <a:off x="2843784" y="50932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 report</a:t>
            </a:r>
            <a:endParaRPr lang="en-US" sz="1210" dirty="0"/>
          </a:p>
        </p:txBody>
      </p:sp>
      <p:sp>
        <p:nvSpPr>
          <p:cNvPr id="40" name="Text 38"/>
          <p:cNvSpPr/>
          <p:nvPr/>
        </p:nvSpPr>
        <p:spPr>
          <a:xfrm>
            <a:off x="6153912" y="5093208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ID</a:t>
            </a:r>
            <a:endParaRPr lang="en-US" sz="1210" dirty="0"/>
          </a:p>
        </p:txBody>
      </p:sp>
      <p:sp>
        <p:nvSpPr>
          <p:cNvPr id="41" name="Text 39"/>
          <p:cNvSpPr/>
          <p:nvPr/>
        </p:nvSpPr>
        <p:spPr>
          <a:xfrm>
            <a:off x="8897112" y="5093208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report</a:t>
            </a:r>
            <a:endParaRPr lang="en-US" sz="1210" dirty="0"/>
          </a:p>
        </p:txBody>
      </p:sp>
      <p:sp>
        <p:nvSpPr>
          <p:cNvPr id="42" name="Shape 40"/>
          <p:cNvSpPr/>
          <p:nvPr/>
        </p:nvSpPr>
        <p:spPr>
          <a:xfrm>
            <a:off x="640080" y="5897880"/>
            <a:ext cx="10927080" cy="384048"/>
          </a:xfrm>
          <a:prstGeom prst="roundRect">
            <a:avLst>
              <a:gd name="adj" fmla="val 357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594360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users interact through the presentation boundary; internal services execute verification.</a:t>
            </a:r>
            <a:endParaRPr lang="en-US" sz="1130" dirty="0"/>
          </a:p>
        </p:txBody>
      </p:sp>
      <p:sp>
        <p:nvSpPr>
          <p:cNvPr id="44" name="Shape 42"/>
          <p:cNvSpPr/>
          <p:nvPr/>
        </p:nvSpPr>
        <p:spPr>
          <a:xfrm>
            <a:off x="640080" y="5897880"/>
            <a:ext cx="64008" cy="384048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45" name="Rounded Rectangle 44"/>
          <p:cNvSpPr/>
          <p:nvPr/>
        </p:nvSpPr>
        <p:spPr>
          <a:xfrm>
            <a:off x="630936" y="5715000"/>
            <a:ext cx="11045952" cy="630936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" y="5760720"/>
            <a:ext cx="10716768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20">
                <a:solidFill>
                  <a:srgbClr val="192E4B"/>
                </a:solidFill>
                <a:latin typeface="Aptos"/>
              </a:defRPr>
            </a:pPr>
            <a:r>
              <a:t>Each use case identifies who starts it, what information is required and what result is returned. Buyers upload and verify, lawyers review exceptions, and banks check evidence or reports.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00A6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PROPCHAIN–AI  /  PROJECT REVIEW IV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 ↔ Class Diagram Consistency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30352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14  •  BEHAVIOUR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80192" y="64373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545336"/>
            <a:ext cx="3172968" cy="539496"/>
          </a:xfrm>
          <a:prstGeom prst="roundRect">
            <a:avLst>
              <a:gd name="adj" fmla="val 254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1691640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UploadPage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05072" y="1810512"/>
            <a:ext cx="649224" cy="0"/>
          </a:xfrm>
          <a:prstGeom prst="line">
            <a:avLst/>
          </a:prstGeom>
          <a:noFill/>
          <a:ln w="19050">
            <a:solidFill>
              <a:srgbClr val="00A69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18888" y="1545336"/>
            <a:ext cx="2532888" cy="539496"/>
          </a:xfrm>
          <a:prstGeom prst="roundRect">
            <a:avLst>
              <a:gd name="adj" fmla="val 25424"/>
            </a:avLst>
          </a:prstGeom>
          <a:solidFill>
            <a:srgbClr val="E7F6F4"/>
          </a:solidFill>
          <a:ln w="10160">
            <a:solidFill>
              <a:srgbClr val="E7F6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664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class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52360" y="1810512"/>
            <a:ext cx="566928" cy="0"/>
          </a:xfrm>
          <a:prstGeom prst="line">
            <a:avLst/>
          </a:prstGeom>
          <a:noFill/>
          <a:ln w="19050">
            <a:solidFill>
              <a:srgbClr val="00A69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1545336"/>
            <a:ext cx="3346704" cy="539496"/>
          </a:xfrm>
          <a:prstGeom prst="roundRect">
            <a:avLst>
              <a:gd name="adj" fmla="val 254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682496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upload(file)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3232" y="2221992"/>
            <a:ext cx="3172968" cy="539496"/>
          </a:xfrm>
          <a:prstGeom prst="roundRect">
            <a:avLst>
              <a:gd name="adj" fmla="val 254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" y="2368296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005072" y="2487168"/>
            <a:ext cx="649224" cy="0"/>
          </a:xfrm>
          <a:prstGeom prst="line">
            <a:avLst/>
          </a:prstGeom>
          <a:noFill/>
          <a:ln w="19050">
            <a:solidFill>
              <a:srgbClr val="00A69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18888" y="2221992"/>
            <a:ext cx="2532888" cy="539496"/>
          </a:xfrm>
          <a:prstGeom prst="roundRect">
            <a:avLst>
              <a:gd name="adj" fmla="val 25424"/>
            </a:avLst>
          </a:prstGeom>
          <a:solidFill>
            <a:srgbClr val="E7F6F4"/>
          </a:solidFill>
          <a:ln w="10160">
            <a:solidFill>
              <a:srgbClr val="E7F6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3408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layer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52360" y="2487168"/>
            <a:ext cx="566928" cy="0"/>
          </a:xfrm>
          <a:prstGeom prst="line">
            <a:avLst/>
          </a:prstGeom>
          <a:noFill/>
          <a:ln w="19050">
            <a:solidFill>
              <a:srgbClr val="00A69D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38160" y="2221992"/>
            <a:ext cx="3346704" cy="539496"/>
          </a:xfrm>
          <a:prstGeom prst="roundRect">
            <a:avLst>
              <a:gd name="adj" fmla="val 254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39328" y="2359152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/documents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3232" y="2898648"/>
            <a:ext cx="3172968" cy="539496"/>
          </a:xfrm>
          <a:prstGeom prst="roundRect">
            <a:avLst>
              <a:gd name="adj" fmla="val 254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3044952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OCRService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005072" y="3163824"/>
            <a:ext cx="649224" cy="0"/>
          </a:xfrm>
          <a:prstGeom prst="line">
            <a:avLst/>
          </a:prstGeom>
          <a:noFill/>
          <a:ln w="19050">
            <a:solidFill>
              <a:srgbClr val="00A69D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818888" y="2898648"/>
            <a:ext cx="2532888" cy="539496"/>
          </a:xfrm>
          <a:prstGeom prst="roundRect">
            <a:avLst>
              <a:gd name="adj" fmla="val 25424"/>
            </a:avLst>
          </a:prstGeom>
          <a:solidFill>
            <a:srgbClr val="E7F6F4"/>
          </a:solidFill>
          <a:ln w="10160">
            <a:solidFill>
              <a:srgbClr val="E7F6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class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52360" y="3163824"/>
            <a:ext cx="566928" cy="0"/>
          </a:xfrm>
          <a:prstGeom prst="line">
            <a:avLst/>
          </a:prstGeom>
          <a:noFill/>
          <a:ln w="19050">
            <a:solidFill>
              <a:srgbClr val="00A69D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138160" y="2898648"/>
            <a:ext cx="3346704" cy="539496"/>
          </a:xfrm>
          <a:prstGeom prst="roundRect">
            <a:avLst>
              <a:gd name="adj" fmla="val 254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9328" y="3035808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extractText()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13232" y="3575304"/>
            <a:ext cx="3172968" cy="539496"/>
          </a:xfrm>
          <a:prstGeom prst="roundRect">
            <a:avLst>
              <a:gd name="adj" fmla="val 254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" y="3721608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NLPExtractor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005072" y="3840480"/>
            <a:ext cx="649224" cy="0"/>
          </a:xfrm>
          <a:prstGeom prst="line">
            <a:avLst/>
          </a:prstGeom>
          <a:noFill/>
          <a:ln w="19050">
            <a:solidFill>
              <a:srgbClr val="00A69D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818888" y="3575304"/>
            <a:ext cx="2532888" cy="539496"/>
          </a:xfrm>
          <a:prstGeom prst="roundRect">
            <a:avLst>
              <a:gd name="adj" fmla="val 25424"/>
            </a:avLst>
          </a:prstGeom>
          <a:solidFill>
            <a:srgbClr val="E7F6F4"/>
          </a:solidFill>
          <a:ln w="10160">
            <a:solidFill>
              <a:srgbClr val="E7F6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69417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class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452360" y="3840480"/>
            <a:ext cx="566928" cy="0"/>
          </a:xfrm>
          <a:prstGeom prst="line">
            <a:avLst/>
          </a:prstGeom>
          <a:noFill/>
          <a:ln w="19050">
            <a:solidFill>
              <a:srgbClr val="00A69D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138160" y="3575304"/>
            <a:ext cx="3346704" cy="539496"/>
          </a:xfrm>
          <a:prstGeom prst="roundRect">
            <a:avLst>
              <a:gd name="adj" fmla="val 254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39328" y="3712464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extractEntities()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13232" y="4251960"/>
            <a:ext cx="3172968" cy="539496"/>
          </a:xfrm>
          <a:prstGeom prst="roundRect">
            <a:avLst>
              <a:gd name="adj" fmla="val 254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5256" y="4398264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CrossValidator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005072" y="4517136"/>
            <a:ext cx="649224" cy="0"/>
          </a:xfrm>
          <a:prstGeom prst="line">
            <a:avLst/>
          </a:prstGeom>
          <a:noFill/>
          <a:ln w="19050">
            <a:solidFill>
              <a:srgbClr val="00A69D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818888" y="4251960"/>
            <a:ext cx="2532888" cy="539496"/>
          </a:xfrm>
          <a:prstGeom prst="roundRect">
            <a:avLst>
              <a:gd name="adj" fmla="val 25424"/>
            </a:avLst>
          </a:prstGeom>
          <a:solidFill>
            <a:srgbClr val="E7F6F4"/>
          </a:solidFill>
          <a:ln w="10160">
            <a:solidFill>
              <a:srgbClr val="E7F6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43708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class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452360" y="4517136"/>
            <a:ext cx="566928" cy="0"/>
          </a:xfrm>
          <a:prstGeom prst="line">
            <a:avLst/>
          </a:prstGeom>
          <a:noFill/>
          <a:ln w="19050">
            <a:solidFill>
              <a:srgbClr val="00A69D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138160" y="4251960"/>
            <a:ext cx="3346704" cy="539496"/>
          </a:xfrm>
          <a:prstGeom prst="roundRect">
            <a:avLst>
              <a:gd name="adj" fmla="val 254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39328" y="4389120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validate(fields)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13232" y="4928616"/>
            <a:ext cx="3172968" cy="539496"/>
          </a:xfrm>
          <a:prstGeom prst="roundRect">
            <a:avLst>
              <a:gd name="adj" fmla="val 254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5256" y="5074920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BlockchainService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4005072" y="5193792"/>
            <a:ext cx="649224" cy="0"/>
          </a:xfrm>
          <a:prstGeom prst="line">
            <a:avLst/>
          </a:prstGeom>
          <a:noFill/>
          <a:ln w="19050">
            <a:solidFill>
              <a:srgbClr val="00A69D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818888" y="4928616"/>
            <a:ext cx="2532888" cy="539496"/>
          </a:xfrm>
          <a:prstGeom prst="roundRect">
            <a:avLst>
              <a:gd name="adj" fmla="val 25424"/>
            </a:avLst>
          </a:prstGeom>
          <a:solidFill>
            <a:srgbClr val="E7F6F4"/>
          </a:solidFill>
          <a:ln w="10160">
            <a:solidFill>
              <a:srgbClr val="E7F6F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83480" y="50474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class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452360" y="5193792"/>
            <a:ext cx="566928" cy="0"/>
          </a:xfrm>
          <a:prstGeom prst="line">
            <a:avLst/>
          </a:prstGeom>
          <a:noFill/>
          <a:ln w="19050">
            <a:solidFill>
              <a:srgbClr val="00A69D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8138160" y="4928616"/>
            <a:ext cx="3346704" cy="539496"/>
          </a:xfrm>
          <a:prstGeom prst="roundRect">
            <a:avLst>
              <a:gd name="adj" fmla="val 254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39328" y="5065776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recordHash()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40080" y="5961888"/>
            <a:ext cx="10927080" cy="384048"/>
          </a:xfrm>
          <a:prstGeom prst="roundRect">
            <a:avLst>
              <a:gd name="adj" fmla="val 357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4672" y="6007608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Messages should call operations supported by the corresponding design classes.</a:t>
            </a:r>
            <a:endParaRPr lang="en-US" sz="1130" dirty="0"/>
          </a:p>
        </p:txBody>
      </p:sp>
      <p:sp>
        <p:nvSpPr>
          <p:cNvPr id="58" name="Shape 56"/>
          <p:cNvSpPr/>
          <p:nvPr/>
        </p:nvSpPr>
        <p:spPr>
          <a:xfrm>
            <a:off x="640080" y="5961888"/>
            <a:ext cx="64008" cy="384048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59" name="Rounded Rectangle 58"/>
          <p:cNvSpPr/>
          <p:nvPr/>
        </p:nvSpPr>
        <p:spPr>
          <a:xfrm>
            <a:off x="630936" y="5715000"/>
            <a:ext cx="11045952" cy="630936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6384" y="5760720"/>
            <a:ext cx="10716768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20">
                <a:solidFill>
                  <a:srgbClr val="192E4B"/>
                </a:solidFill>
                <a:latin typeface="Aptos"/>
              </a:defRPr>
            </a:pPr>
            <a:r>
              <a:t>The sequence diagram is consistent when its participants match designed classes and its messages map to actual service responsibilities. This avoids inventing operations that the class model cannot support.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A46C"/>
          </a:solidFill>
          <a:ln w="12700">
            <a:solidFill>
              <a:srgbClr val="36A4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36A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PROPCHAIN–AI  /  PROJECT REVIEW IV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Aggregation and Containment Relations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30352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15  •  STRUCTURE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80192" y="64373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1636776"/>
            <a:ext cx="10524744" cy="3337560"/>
          </a:xfrm>
          <a:prstGeom prst="roundRect">
            <a:avLst>
              <a:gd name="adj" fmla="val 4110"/>
            </a:avLst>
          </a:prstGeom>
          <a:solidFill>
            <a:srgbClr val="E7F4F0"/>
          </a:solidFill>
          <a:ln w="10160">
            <a:solidFill>
              <a:srgbClr val="BCDC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1874520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6A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  (aggregate root)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216152" y="2816352"/>
            <a:ext cx="4187952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6152" y="2816352"/>
            <a:ext cx="4187952" cy="82296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295351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98448" y="327355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+ extracted data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6483096" y="2816352"/>
            <a:ext cx="4142232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83096" y="2816352"/>
            <a:ext cx="4142232" cy="82296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92824" y="2953512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OwnershipRecord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65392" y="3273552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+ effective dates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3236976" y="2514600"/>
            <a:ext cx="0" cy="256032"/>
          </a:xfrm>
          <a:prstGeom prst="line">
            <a:avLst/>
          </a:prstGeom>
          <a:noFill/>
          <a:ln w="25400">
            <a:solidFill>
              <a:srgbClr val="36A46C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513064" y="2514600"/>
            <a:ext cx="0" cy="256032"/>
          </a:xfrm>
          <a:prstGeom prst="line">
            <a:avLst/>
          </a:prstGeom>
          <a:noFill/>
          <a:ln w="25400">
            <a:solidFill>
              <a:srgbClr val="36A46C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145536" y="2368296"/>
            <a:ext cx="164592" cy="164592"/>
          </a:xfrm>
          <a:prstGeom prst="ellipse">
            <a:avLst/>
          </a:prstGeom>
          <a:solidFill>
            <a:srgbClr val="36A46C"/>
          </a:solidFill>
          <a:ln w="12700">
            <a:solidFill>
              <a:srgbClr val="36A46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30768" y="2368296"/>
            <a:ext cx="164592" cy="164592"/>
          </a:xfrm>
          <a:prstGeom prst="ellipse">
            <a:avLst/>
          </a:prstGeom>
          <a:solidFill>
            <a:srgbClr val="36A46C"/>
          </a:solidFill>
          <a:ln w="12700">
            <a:solidFill>
              <a:srgbClr val="36A46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02736" y="4325112"/>
            <a:ext cx="4965192" cy="292608"/>
          </a:xfrm>
          <a:prstGeom prst="roundRect">
            <a:avLst>
              <a:gd name="adj" fmla="val 46875"/>
            </a:avLst>
          </a:prstGeom>
          <a:solidFill>
            <a:srgbClr val="36A46C"/>
          </a:solidFill>
          <a:ln w="10160">
            <a:solidFill>
              <a:srgbClr val="36A4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75888" y="4334256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 / LIFECYCLE OWNERSHIP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5577840"/>
            <a:ext cx="10927080" cy="384048"/>
          </a:xfrm>
          <a:prstGeom prst="roundRect">
            <a:avLst>
              <a:gd name="adj" fmla="val 357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562356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design: a Property groups its Documents and OwnershipRecords; deletion policy needs guide confirmation.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640080" y="5577840"/>
            <a:ext cx="64008" cy="384048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27" name="Rounded Rectangle 26"/>
          <p:cNvSpPr/>
          <p:nvPr/>
        </p:nvSpPr>
        <p:spPr>
          <a:xfrm>
            <a:off x="630936" y="5715000"/>
            <a:ext cx="11045952" cy="630936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5760720"/>
            <a:ext cx="10716768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20">
                <a:solidFill>
                  <a:srgbClr val="192E4B"/>
                </a:solidFill>
                <a:latin typeface="Aptos"/>
              </a:defRPr>
            </a:pPr>
            <a:r>
              <a:t>A property groups related documents and ownership history as one conceptual aggregate. Whether child records are deleted or retained is a separate data-retention decision requiring confirmation.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866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PROPCHAIN–AI  /  PROJECT REVIEW IV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Chart: Correct Dynamic Behaviour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30352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16  •  DYNAMIC 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80192" y="64373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1947672" cy="749808"/>
          </a:xfrm>
          <a:prstGeom prst="roundRect">
            <a:avLst>
              <a:gd name="adj" fmla="val 18293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011680"/>
            <a:ext cx="1947672" cy="82296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14884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0" y="2386584"/>
            <a:ext cx="438912" cy="0"/>
          </a:xfrm>
          <a:prstGeom prst="line">
            <a:avLst/>
          </a:prstGeom>
          <a:noFill/>
          <a:ln w="21590">
            <a:solidFill>
              <a:srgbClr val="21304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063240" y="2011680"/>
            <a:ext cx="1947672" cy="749808"/>
          </a:xfrm>
          <a:prstGeom prst="roundRect">
            <a:avLst>
              <a:gd name="adj" fmla="val 18293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2011680"/>
            <a:ext cx="1947672" cy="82296"/>
          </a:xfrm>
          <a:prstGeom prst="rect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214884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2386584"/>
            <a:ext cx="475488" cy="0"/>
          </a:xfrm>
          <a:prstGeom prst="line">
            <a:avLst/>
          </a:prstGeom>
          <a:noFill/>
          <a:ln w="21590">
            <a:solidFill>
              <a:srgbClr val="21304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68696" y="2011680"/>
            <a:ext cx="1947672" cy="749808"/>
          </a:xfrm>
          <a:prstGeom prst="roundRect">
            <a:avLst>
              <a:gd name="adj" fmla="val 18293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68696" y="2011680"/>
            <a:ext cx="1947672" cy="82296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78424" y="214884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534656" y="2386584"/>
            <a:ext cx="512064" cy="0"/>
          </a:xfrm>
          <a:prstGeom prst="line">
            <a:avLst/>
          </a:prstGeom>
          <a:noFill/>
          <a:ln w="21590">
            <a:solidFill>
              <a:srgbClr val="21304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0728" y="2011680"/>
            <a:ext cx="1947672" cy="749808"/>
          </a:xfrm>
          <a:prstGeom prst="roundRect">
            <a:avLst>
              <a:gd name="adj" fmla="val 18293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10728" y="2011680"/>
            <a:ext cx="1947672" cy="82296"/>
          </a:xfrm>
          <a:prstGeom prst="rect">
            <a:avLst/>
          </a:prstGeom>
          <a:solidFill>
            <a:srgbClr val="E3AD43"/>
          </a:solidFill>
          <a:ln w="12700">
            <a:solidFill>
              <a:srgbClr val="E3AD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0456" y="214884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076688" y="2386584"/>
            <a:ext cx="-118872" cy="0"/>
          </a:xfrm>
          <a:prstGeom prst="line">
            <a:avLst/>
          </a:prstGeom>
          <a:noFill/>
          <a:ln w="21590">
            <a:solidFill>
              <a:srgbClr val="213047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21824" y="2011680"/>
            <a:ext cx="1609344" cy="749808"/>
          </a:xfrm>
          <a:prstGeom prst="roundRect">
            <a:avLst>
              <a:gd name="adj" fmla="val 18293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21824" y="2011680"/>
            <a:ext cx="1609344" cy="82296"/>
          </a:xfrm>
          <a:prstGeom prst="rect">
            <a:avLst/>
          </a:prstGeom>
          <a:solidFill>
            <a:srgbClr val="36A46C"/>
          </a:solidFill>
          <a:ln w="12700">
            <a:solidFill>
              <a:srgbClr val="36A4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31552" y="21488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04104" y="4023360"/>
            <a:ext cx="2258568" cy="978408"/>
          </a:xfrm>
          <a:prstGeom prst="roundRect">
            <a:avLst>
              <a:gd name="adj" fmla="val 1401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04104" y="4023360"/>
            <a:ext cx="2258568" cy="82296"/>
          </a:xfrm>
          <a:prstGeom prst="rect">
            <a:avLst/>
          </a:prstGeom>
          <a:solidFill>
            <a:srgbClr val="D96970"/>
          </a:solidFill>
          <a:ln w="12700">
            <a:solidFill>
              <a:srgbClr val="D969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4160520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Review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0" y="4480560"/>
            <a:ext cx="20939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flags raised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6510528" y="2816352"/>
            <a:ext cx="0" cy="1179576"/>
          </a:xfrm>
          <a:prstGeom prst="line">
            <a:avLst/>
          </a:prstGeom>
          <a:noFill/>
          <a:ln w="25400">
            <a:solidFill>
              <a:srgbClr val="D96970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449824" y="4498848"/>
            <a:ext cx="-1152144" cy="0"/>
          </a:xfrm>
          <a:prstGeom prst="line">
            <a:avLst/>
          </a:prstGeom>
          <a:noFill/>
          <a:ln w="25400">
            <a:solidFill>
              <a:srgbClr val="36A46C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297680" y="4498848"/>
            <a:ext cx="0" cy="-1600200"/>
          </a:xfrm>
          <a:prstGeom prst="line">
            <a:avLst/>
          </a:prstGeom>
          <a:noFill/>
          <a:ln w="21590">
            <a:solidFill>
              <a:srgbClr val="36A46C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4297680" y="2898648"/>
            <a:ext cx="1216152" cy="0"/>
          </a:xfrm>
          <a:prstGeom prst="line">
            <a:avLst/>
          </a:prstGeom>
          <a:noFill/>
          <a:ln w="25400">
            <a:solidFill>
              <a:srgbClr val="36A46C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2852928" y="474573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6A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correction / rerun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5751576"/>
            <a:ext cx="10927080" cy="384048"/>
          </a:xfrm>
          <a:prstGeom prst="roundRect">
            <a:avLst>
              <a:gd name="adj" fmla="val 357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5797296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Hashing and anchoring capture review outcomes as tamper-evident events, including flagged results.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640080" y="5751576"/>
            <a:ext cx="64008" cy="384048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39" name="Rounded Rectangle 38"/>
          <p:cNvSpPr/>
          <p:nvPr/>
        </p:nvSpPr>
        <p:spPr>
          <a:xfrm>
            <a:off x="630936" y="5715000"/>
            <a:ext cx="11045952" cy="630936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5760720"/>
            <a:ext cx="10716768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20">
                <a:solidFill>
                  <a:srgbClr val="192E4B"/>
                </a:solidFill>
                <a:latin typeface="Aptos"/>
              </a:defRPr>
            </a:pPr>
            <a:r>
              <a:t>A document moves through uploaded, processing, validated, hashed and recorded states. When risk is detected it enters needs-review; corrections can trigger another validation cycle.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AD43"/>
          </a:solidFill>
          <a:ln w="12700">
            <a:solidFill>
              <a:srgbClr val="E3AD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E3AD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PROPCHAIN–AI  /  PROJECT REVIEW IV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DFDs, Control Flow and Data Transformations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30352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17  •  DATA / PROCESS MODELS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80192" y="64373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E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" y="1920240"/>
            <a:ext cx="2084832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920240"/>
            <a:ext cx="2084832" cy="82296"/>
          </a:xfrm>
          <a:prstGeom prst="rect">
            <a:avLst/>
          </a:prstGeom>
          <a:solidFill>
            <a:srgbClr val="3078DB"/>
          </a:solidFill>
          <a:ln w="12700">
            <a:solidFill>
              <a:srgbClr val="307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5740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 INGEST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" y="237744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PDF / image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2551176" y="2487168"/>
            <a:ext cx="274320" cy="0"/>
          </a:xfrm>
          <a:prstGeom prst="line">
            <a:avLst/>
          </a:prstGeom>
          <a:noFill/>
          <a:ln w="22860">
            <a:solidFill>
              <a:srgbClr val="21304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52928" y="1920240"/>
            <a:ext cx="2084832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52928" y="1920240"/>
            <a:ext cx="2084832" cy="82296"/>
          </a:xfrm>
          <a:prstGeom prst="rect">
            <a:avLst/>
          </a:prstGeom>
          <a:solidFill>
            <a:srgbClr val="8667CB"/>
          </a:solidFill>
          <a:ln w="12700">
            <a:solidFill>
              <a:srgbClr val="8667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205740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2.0 EXTRACT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35224" y="237744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 text + fields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4965192" y="2487168"/>
            <a:ext cx="274320" cy="0"/>
          </a:xfrm>
          <a:prstGeom prst="line">
            <a:avLst/>
          </a:prstGeom>
          <a:noFill/>
          <a:ln w="22860">
            <a:solidFill>
              <a:srgbClr val="21304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66944" y="1920240"/>
            <a:ext cx="2084832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66944" y="1920240"/>
            <a:ext cx="2084832" cy="82296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205740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3.0 VALIDATE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237744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+ risk flags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7379208" y="2487168"/>
            <a:ext cx="274320" cy="0"/>
          </a:xfrm>
          <a:prstGeom prst="line">
            <a:avLst/>
          </a:prstGeom>
          <a:noFill/>
          <a:ln w="22860">
            <a:solidFill>
              <a:srgbClr val="21304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80960" y="1920240"/>
            <a:ext cx="2084832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1920240"/>
            <a:ext cx="2084832" cy="82296"/>
          </a:xfrm>
          <a:prstGeom prst="rect">
            <a:avLst/>
          </a:prstGeom>
          <a:solidFill>
            <a:srgbClr val="E3AD43"/>
          </a:solidFill>
          <a:ln w="12700">
            <a:solidFill>
              <a:srgbClr val="E3AD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90688" y="205740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4.0 ANCHOR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63256" y="237744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SHA-256 + tx ID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9793224" y="2487168"/>
            <a:ext cx="274320" cy="0"/>
          </a:xfrm>
          <a:prstGeom prst="line">
            <a:avLst/>
          </a:prstGeom>
          <a:noFill/>
          <a:ln w="22860">
            <a:solidFill>
              <a:srgbClr val="213047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094976" y="1920240"/>
            <a:ext cx="2084832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94976" y="1920240"/>
            <a:ext cx="2084832" cy="82296"/>
          </a:xfrm>
          <a:prstGeom prst="rect">
            <a:avLst/>
          </a:prstGeom>
          <a:solidFill>
            <a:srgbClr val="36A46C"/>
          </a:solidFill>
          <a:ln w="12700">
            <a:solidFill>
              <a:srgbClr val="36A4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04704" y="205740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5.0 REPORT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177272" y="237744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verdict + explanations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1033272" y="3913632"/>
            <a:ext cx="2642616" cy="813816"/>
          </a:xfrm>
          <a:prstGeom prst="roundRect">
            <a:avLst>
              <a:gd name="adj" fmla="val 16854"/>
            </a:avLst>
          </a:prstGeom>
          <a:solidFill>
            <a:srgbClr val="FFFFFF"/>
          </a:solidFill>
          <a:ln w="10160">
            <a:solidFill>
              <a:srgbClr val="CAD7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0432" y="4151376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7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OFF-CHAIN FILES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99432" y="3913632"/>
            <a:ext cx="2642616" cy="813816"/>
          </a:xfrm>
          <a:prstGeom prst="roundRect">
            <a:avLst>
              <a:gd name="adj" fmla="val 16854"/>
            </a:avLst>
          </a:prstGeom>
          <a:solidFill>
            <a:srgbClr val="FFFFFF"/>
          </a:solidFill>
          <a:ln w="10160">
            <a:solidFill>
              <a:srgbClr val="CAD7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4151376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6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458200" y="3913632"/>
            <a:ext cx="2642616" cy="813816"/>
          </a:xfrm>
          <a:prstGeom prst="roundRect">
            <a:avLst>
              <a:gd name="adj" fmla="val 16854"/>
            </a:avLst>
          </a:prstGeom>
          <a:solidFill>
            <a:srgbClr val="FFFFFF"/>
          </a:solidFill>
          <a:ln w="10160">
            <a:solidFill>
              <a:srgbClr val="CAD7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0" y="4151376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AD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463040" y="3063240"/>
            <a:ext cx="822960" cy="813816"/>
          </a:xfrm>
          <a:prstGeom prst="line">
            <a:avLst/>
          </a:prstGeom>
          <a:noFill/>
          <a:ln w="25400">
            <a:solidFill>
              <a:srgbClr val="3078D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577840" y="3063240"/>
            <a:ext cx="274320" cy="813816"/>
          </a:xfrm>
          <a:prstGeom prst="line">
            <a:avLst/>
          </a:prstGeom>
          <a:noFill/>
          <a:ln w="25400">
            <a:solidFill>
              <a:srgbClr val="00A69D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052560" y="3063240"/>
            <a:ext cx="557784" cy="813816"/>
          </a:xfrm>
          <a:prstGeom prst="line">
            <a:avLst/>
          </a:prstGeom>
          <a:noFill/>
          <a:ln w="25400">
            <a:solidFill>
              <a:srgbClr val="E3AD43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60120" y="5047488"/>
            <a:ext cx="10241280" cy="539496"/>
          </a:xfrm>
          <a:prstGeom prst="roundRect">
            <a:avLst>
              <a:gd name="adj" fmla="val 25424"/>
            </a:avLst>
          </a:prstGeom>
          <a:solidFill>
            <a:srgbClr val="FFF4DE"/>
          </a:solidFill>
          <a:ln w="10160">
            <a:solidFill>
              <a:srgbClr val="FFF4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25296" y="5193792"/>
            <a:ext cx="9710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1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FLOW: risk checks → PASS / NEEDS REVIEW    |    TRANSFORMATION: file → text → fields → flags → hash → report</a:t>
            </a:r>
            <a:endParaRPr lang="en-US" sz="1210" dirty="0"/>
          </a:p>
        </p:txBody>
      </p:sp>
      <p:sp>
        <p:nvSpPr>
          <p:cNvPr id="43" name="Rounded Rectangle 42"/>
          <p:cNvSpPr/>
          <p:nvPr/>
        </p:nvSpPr>
        <p:spPr>
          <a:xfrm>
            <a:off x="630936" y="5715000"/>
            <a:ext cx="11045952" cy="630936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5760720"/>
            <a:ext cx="10716768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20">
                <a:solidFill>
                  <a:srgbClr val="192E4B"/>
                </a:solidFill>
                <a:latin typeface="Aptos"/>
              </a:defRPr>
            </a:pPr>
            <a:r>
              <a:t>The data flow converts source files into extracted text, structured fields, risk findings and a report. Control flow branches on validation results, while only hashes are written to blockchain.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846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6400800" cy="29260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400" b="1">
                <a:solidFill>
                  <a:srgbClr val="8460D5"/>
                </a:solidFill>
                <a:latin typeface="Aptos"/>
              </a:defRPr>
            </a:pPr>
            <a:r>
              <a:t>PROPCHAIN–AI  /  PROJECT REVIEW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04088"/>
            <a:ext cx="8229600" cy="5943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3100" b="1">
                <a:solidFill>
                  <a:srgbClr val="182741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1201400" cy="22860"/>
          </a:xfrm>
          <a:prstGeom prst="rect">
            <a:avLst/>
          </a:prstGeom>
          <a:solidFill>
            <a:srgbClr val="D3D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" y="1664208"/>
            <a:ext cx="10808208" cy="4251960"/>
          </a:xfrm>
          <a:prstGeom prst="roundRect">
            <a:avLst/>
          </a:prstGeom>
          <a:solidFill>
            <a:srgbClr val="F0F6FC"/>
          </a:solidFill>
          <a:ln>
            <a:solidFill>
              <a:srgbClr val="A6C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993392"/>
            <a:ext cx="10113264" cy="3566160"/>
          </a:xfrm>
          <a:prstGeom prst="rect">
            <a:avLst/>
          </a:prstGeom>
          <a:noFill/>
        </p:spPr>
        <p:txBody>
          <a:bodyPr wrap="square" lIns="146304" rIns="146304" tIns="91440">
            <a:spAutoFit/>
          </a:bodyPr>
          <a:lstStyle/>
          <a:p>
            <a:pPr algn="l">
              <a:spcAft>
                <a:spcPts val="0"/>
              </a:spcAft>
              <a:defRPr sz="2100">
                <a:solidFill>
                  <a:srgbClr val="1D344B"/>
                </a:solidFill>
                <a:latin typeface="Aptos"/>
              </a:defRPr>
            </a:pPr>
            <a:r>
              <a:t>The PropChain-AI system design provides a structured and explainable approach to property-document verification by integrating document uploading, OCR, NLP-based information extraction, cross-document validation, ownership tracking, risk analysis and report generation. The proposed modular architecture separates these responsibilities so that each component can be developed, tested and improved independently. UML class, use-case, sequence, activity and state diagrams, together with data-flow models, illustrate how users, services and information interact throughout the verification process. To support document integrity and traceability, original property papers remain securely stored off-chain, while their cryptographic fingerprints and verification events can be recorded on the blockchain. Overall, Review IV establishes a consistent design foundation for implementing the prototype, validating it with sample property documents and refining the system with guidance from the project mentor.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914400"/>
            <a:ext cx="2468880" cy="2468880"/>
          </a:xfrm>
          <a:prstGeom prst="ellipse">
            <a:avLst/>
          </a:prstGeom>
          <a:solidFill>
            <a:srgbClr val="25425F"/>
          </a:solidFill>
          <a:ln w="12700">
            <a:solidFill>
              <a:srgbClr val="2542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3608" y="1371600"/>
            <a:ext cx="2468880" cy="2468880"/>
          </a:xfrm>
          <a:prstGeom prst="ellipse">
            <a:avLst/>
          </a:prstGeom>
          <a:solidFill>
            <a:srgbClr val="18334D"/>
          </a:solidFill>
          <a:ln w="12700">
            <a:solidFill>
              <a:srgbClr val="1833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31936" y="1828800"/>
            <a:ext cx="2468880" cy="2468880"/>
          </a:xfrm>
          <a:prstGeom prst="ellipse">
            <a:avLst/>
          </a:prstGeom>
          <a:solidFill>
            <a:srgbClr val="25425F"/>
          </a:solidFill>
          <a:ln w="12700">
            <a:solidFill>
              <a:srgbClr val="2542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0264" y="2286000"/>
            <a:ext cx="2468880" cy="2468880"/>
          </a:xfrm>
          <a:prstGeom prst="ellipse">
            <a:avLst/>
          </a:prstGeom>
          <a:solidFill>
            <a:srgbClr val="18334D"/>
          </a:solidFill>
          <a:ln w="12700">
            <a:solidFill>
              <a:srgbClr val="1833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08592" y="2743200"/>
            <a:ext cx="2468880" cy="2468880"/>
          </a:xfrm>
          <a:prstGeom prst="ellipse">
            <a:avLst/>
          </a:prstGeom>
          <a:solidFill>
            <a:srgbClr val="25425F"/>
          </a:solidFill>
          <a:ln w="12700">
            <a:solidFill>
              <a:srgbClr val="2542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46920" y="3200400"/>
            <a:ext cx="2468880" cy="2468880"/>
          </a:xfrm>
          <a:prstGeom prst="ellipse">
            <a:avLst/>
          </a:prstGeom>
          <a:solidFill>
            <a:srgbClr val="18334D"/>
          </a:solidFill>
          <a:ln w="12700">
            <a:solidFill>
              <a:srgbClr val="1833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85248" y="3657600"/>
            <a:ext cx="2468880" cy="2468880"/>
          </a:xfrm>
          <a:prstGeom prst="ellipse">
            <a:avLst/>
          </a:prstGeom>
          <a:solidFill>
            <a:srgbClr val="25425F"/>
          </a:solidFill>
          <a:ln w="12700">
            <a:solidFill>
              <a:srgbClr val="2542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399032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777240" y="2743200"/>
            <a:ext cx="2880360" cy="109728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191256"/>
            <a:ext cx="7315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C6F0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PROPCHAIN–AI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804672" y="381304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D0DD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Blockchain-Based AI System for Property Analysis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04672" y="4919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Nadaf MohammadAzhar  |  MohammadAli Shaikh  |  Vishal Sahani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" y="5422392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7C9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by Prof. Hrushikesh Ingole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6300216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0B3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ISBM College of Engineering  •  Review IV  •  2026–27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PropChain-AI | Review IV</dc:title>
  <dc:subject>Project Review IV – Checklist</dc:subject>
  <dc:creator>PropChain-AI</dc:creator>
  <cp:lastModifiedBy>PropChain-AI</cp:lastModifiedBy>
  <cp:revision>1</cp:revision>
  <dcterms:created xsi:type="dcterms:W3CDTF">2026-10-23T18:09:35Z</dcterms:created>
  <dcterms:modified xsi:type="dcterms:W3CDTF">2026-10-23T18:09:35Z</dcterms:modified>
</cp:coreProperties>
</file>
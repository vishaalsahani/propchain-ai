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95503" autoAdjust="0"/>
  </p:normalViewPr>
  <p:slideViewPr>
    <p:cSldViewPr snapToGrid="0">
      <p:cViewPr varScale="1">
        <p:scale>
          <a:sx n="80" d="100"/>
          <a:sy n="80" d="100"/>
        </p:scale>
        <p:origin x="58" y="211"/>
      </p:cViewPr>
      <p:guideLst/>
    </p:cSldViewPr>
  </p:slideViewPr>
  <p:outlineViewPr>
    <p:cViewPr>
      <p:scale>
        <a:sx n="33" d="100"/>
        <a:sy n="33" d="100"/>
      </p:scale>
      <p:origin x="0" y="-223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A37C8-F121-4F7F-A14B-BB052E7033D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950B173-F583-4951-B65A-E9E85BD431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450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A37C8-F121-4F7F-A14B-BB052E7033D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B173-F583-4951-B65A-E9E85BD431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612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2BBA37C8-F121-4F7F-A14B-BB052E7033D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950B173-F583-4951-B65A-E9E85BD431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99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A37C8-F121-4F7F-A14B-BB052E7033D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B173-F583-4951-B65A-E9E85BD431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164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A37C8-F121-4F7F-A14B-BB052E7033D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B173-F583-4951-B65A-E9E85BD431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291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A37C8-F121-4F7F-A14B-BB052E7033D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B173-F583-4951-B65A-E9E85BD431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168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A37C8-F121-4F7F-A14B-BB052E7033D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B173-F583-4951-B65A-E9E85BD431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062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A37C8-F121-4F7F-A14B-BB052E7033D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B173-F583-4951-B65A-E9E85BD431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479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A37C8-F121-4F7F-A14B-BB052E7033D6}" type="datetimeFigureOut">
              <a:rPr lang="en-IN" smtClean="0"/>
              <a:t>10-09-2026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B173-F583-4951-B65A-E9E85BD431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426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A37C8-F121-4F7F-A14B-BB052E7033D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B173-F583-4951-B65A-E9E85BD431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842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A37C8-F121-4F7F-A14B-BB052E7033D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B173-F583-4951-B65A-E9E85BD431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93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2BBA37C8-F121-4F7F-A14B-BB052E7033D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950B173-F583-4951-B65A-E9E85BD431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11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diacode.nic.in/" TargetMode="External"/><Relationship Id="rId2" Type="http://schemas.openxmlformats.org/officeDocument/2006/relationships/hyperlink" Target="https://dolr.gov.in/en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esseract-ocr.github.io/" TargetMode="External"/><Relationship Id="rId5" Type="http://schemas.openxmlformats.org/officeDocument/2006/relationships/hyperlink" Target="https://ethereum.org/developers/docs/smart-contracts/?utm_source=chatgpt.com" TargetMode="External"/><Relationship Id="rId4" Type="http://schemas.openxmlformats.org/officeDocument/2006/relationships/hyperlink" Target="https://www.meity.gov.in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50042-85FD-4023-A1EF-4DB9C09D28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PROPCHAIN-AI </a:t>
            </a:r>
            <a:r>
              <a:rPr lang="en-US" sz="4800" dirty="0"/>
              <a:t>BLOCKCHAIN-BASED AI SYSTEM FOR PROPERTY ANALYSIS 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2EB8-B337-4AD2-AC61-CE608E231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389119"/>
            <a:ext cx="9948672" cy="1751621"/>
          </a:xfrm>
        </p:spPr>
        <p:txBody>
          <a:bodyPr>
            <a:normAutofit lnSpcReduction="10000"/>
          </a:bodyPr>
          <a:lstStyle/>
          <a:p>
            <a:r>
              <a:rPr lang="en-IN" dirty="0"/>
              <a:t>Group Members:  </a:t>
            </a:r>
          </a:p>
          <a:p>
            <a:r>
              <a:rPr lang="en-IN" dirty="0"/>
              <a:t>1. </a:t>
            </a:r>
            <a:r>
              <a:rPr lang="en-IN" dirty="0" err="1"/>
              <a:t>Nadaf</a:t>
            </a:r>
            <a:r>
              <a:rPr lang="en-IN" dirty="0"/>
              <a:t> </a:t>
            </a:r>
            <a:r>
              <a:rPr lang="en-IN" dirty="0" err="1"/>
              <a:t>MohammadAzhar</a:t>
            </a:r>
            <a:r>
              <a:rPr lang="en-IN" dirty="0"/>
              <a:t>  </a:t>
            </a:r>
          </a:p>
          <a:p>
            <a:r>
              <a:rPr lang="en-IN" dirty="0"/>
              <a:t>2. </a:t>
            </a:r>
            <a:r>
              <a:rPr lang="en-IN" dirty="0" err="1"/>
              <a:t>MohammadAli</a:t>
            </a:r>
            <a:r>
              <a:rPr lang="en-IN" dirty="0"/>
              <a:t> Shaikh  </a:t>
            </a:r>
          </a:p>
          <a:p>
            <a:r>
              <a:rPr lang="en-IN" dirty="0"/>
              <a:t>3. Vishal </a:t>
            </a:r>
            <a:r>
              <a:rPr lang="en-IN" dirty="0" err="1"/>
              <a:t>Sahani</a:t>
            </a:r>
            <a:r>
              <a:rPr lang="en-IN" dirty="0"/>
              <a:t>                                               </a:t>
            </a:r>
            <a:r>
              <a:rPr lang="en-US" dirty="0"/>
              <a:t>Guided By: Prof. </a:t>
            </a:r>
            <a:r>
              <a:rPr lang="en-US" dirty="0" err="1"/>
              <a:t>Hrushikesh</a:t>
            </a:r>
            <a:r>
              <a:rPr lang="en-US" dirty="0"/>
              <a:t> </a:t>
            </a:r>
            <a:r>
              <a:rPr lang="en-US" dirty="0" err="1"/>
              <a:t>Ingole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0846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10000">
        <p14:reveal/>
      </p:transition>
    </mc:Choice>
    <mc:Fallback>
      <p:transition spd="slow" advTm="10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D628C-DFEE-47DF-9B8B-C07CC5B9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4C5A4-F70F-49C4-8B5F-4A25748F77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Project Title</a:t>
            </a:r>
          </a:p>
          <a:p>
            <a:r>
              <a:rPr lang="en-US" dirty="0"/>
              <a:t>Index</a:t>
            </a:r>
          </a:p>
          <a:p>
            <a:r>
              <a:rPr lang="en-US" dirty="0"/>
              <a:t>Research Gap Identified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Methodology</a:t>
            </a:r>
          </a:p>
          <a:p>
            <a:r>
              <a:rPr lang="en-IN" dirty="0"/>
              <a:t>Literature Survey</a:t>
            </a:r>
          </a:p>
          <a:p>
            <a:r>
              <a:rPr lang="en-IN" dirty="0"/>
              <a:t>Scope &amp; Objectives</a:t>
            </a:r>
          </a:p>
          <a:p>
            <a:r>
              <a:rPr lang="en-IN" dirty="0"/>
              <a:t>Project Contribution in Society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65C1F-C958-49DC-964C-7BA0887AE1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  <a:p>
            <a:r>
              <a:rPr lang="en-IN" dirty="0"/>
              <a:t>Conclusion</a:t>
            </a:r>
          </a:p>
          <a:p>
            <a:r>
              <a:rPr lang="en-IN" dirty="0"/>
              <a:t>References</a:t>
            </a:r>
          </a:p>
          <a:p>
            <a:r>
              <a:rPr lang="en-IN" dirty="0"/>
              <a:t>Group Members:  </a:t>
            </a:r>
          </a:p>
          <a:p>
            <a:pPr marL="0" indent="0">
              <a:buNone/>
            </a:pPr>
            <a:r>
              <a:rPr lang="en-IN" dirty="0"/>
              <a:t>1. </a:t>
            </a:r>
            <a:r>
              <a:rPr lang="en-IN" dirty="0" err="1"/>
              <a:t>Nadaf</a:t>
            </a:r>
            <a:r>
              <a:rPr lang="en-IN" dirty="0"/>
              <a:t> </a:t>
            </a:r>
            <a:r>
              <a:rPr lang="en-IN" dirty="0" err="1"/>
              <a:t>MohammadAzhar</a:t>
            </a:r>
            <a:r>
              <a:rPr lang="en-IN" dirty="0"/>
              <a:t>  </a:t>
            </a:r>
          </a:p>
          <a:p>
            <a:pPr marL="0" indent="0">
              <a:buNone/>
            </a:pPr>
            <a:r>
              <a:rPr lang="en-IN" dirty="0"/>
              <a:t>2. </a:t>
            </a:r>
            <a:r>
              <a:rPr lang="en-IN" dirty="0" err="1"/>
              <a:t>MohammadAli</a:t>
            </a:r>
            <a:r>
              <a:rPr lang="en-IN" dirty="0"/>
              <a:t> Shaikh  </a:t>
            </a:r>
          </a:p>
          <a:p>
            <a:pPr marL="0" indent="0">
              <a:buNone/>
            </a:pPr>
            <a:r>
              <a:rPr lang="en-IN" dirty="0"/>
              <a:t>3. Vishal </a:t>
            </a:r>
            <a:r>
              <a:rPr lang="en-IN" dirty="0" err="1"/>
              <a:t>Sahani</a:t>
            </a:r>
            <a:endParaRPr lang="en-IN" dirty="0"/>
          </a:p>
          <a:p>
            <a:r>
              <a:rPr lang="en-US" dirty="0"/>
              <a:t>Guided By: Prof. </a:t>
            </a:r>
            <a:r>
              <a:rPr lang="en-US" dirty="0" err="1"/>
              <a:t>Hrushikesh</a:t>
            </a:r>
            <a:r>
              <a:rPr lang="en-US" dirty="0"/>
              <a:t> </a:t>
            </a:r>
            <a:r>
              <a:rPr lang="en-US" dirty="0" err="1"/>
              <a:t>Ingole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2608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F0095-95BF-416E-837A-011EF449B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Gap Identified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BDA62-FACA-4168-B6A3-81D9E10D0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Property records are spread across multiple documents and systems.</a:t>
            </a:r>
          </a:p>
          <a:p>
            <a:r>
              <a:rPr lang="en-IN" dirty="0"/>
              <a:t>Manual verification is time-consuming and error-prone.</a:t>
            </a:r>
          </a:p>
          <a:p>
            <a:r>
              <a:rPr lang="en-IN" dirty="0"/>
              <a:t>Existing systems lack integrated </a:t>
            </a:r>
            <a:r>
              <a:rPr lang="en-IN" b="1" dirty="0"/>
              <a:t>AI-based document comparison and ownership analysis.</a:t>
            </a:r>
          </a:p>
          <a:p>
            <a:r>
              <a:rPr lang="en-IN" dirty="0"/>
              <a:t>Limited automation exists for </a:t>
            </a:r>
            <a:r>
              <a:rPr lang="en-IN" b="1" dirty="0"/>
              <a:t>risk detection and legal-rule evaluation.</a:t>
            </a:r>
          </a:p>
          <a:p>
            <a:r>
              <a:rPr lang="en-IN" dirty="0"/>
              <a:t>Need for </a:t>
            </a:r>
            <a:r>
              <a:rPr lang="en-IN" b="1" dirty="0"/>
              <a:t>blockchain-based tamper-evident document verification.</a:t>
            </a:r>
          </a:p>
          <a:p>
            <a:pPr marL="0" indent="0">
              <a:buNone/>
            </a:pPr>
            <a:r>
              <a:rPr lang="en-IN" b="1" u="sng" dirty="0"/>
              <a:t>Research Gap</a:t>
            </a:r>
          </a:p>
          <a:p>
            <a:r>
              <a:rPr lang="en-IN" dirty="0"/>
              <a:t>No unified system combines AI document analysis, ownership-chain verification, legal risk detection, and blockchain integrity verification.</a:t>
            </a:r>
          </a:p>
        </p:txBody>
      </p:sp>
    </p:spTree>
    <p:extLst>
      <p:ext uri="{BB962C8B-B14F-4D97-AF65-F5344CB8AC3E}">
        <p14:creationId xmlns:p14="http://schemas.microsoft.com/office/powerpoint/2010/main" val="464228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84CE-8B1C-4159-9FD0-B3B0A7530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F2AB2-5D87-400C-8AD1-4164448A1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Property verification involves checking multiple documents and records.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Manual verification is </a:t>
            </a:r>
            <a:r>
              <a:rPr lang="en-US" b="1" dirty="0"/>
              <a:t>time-consuming and error-prone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Identifying ownership gaps and document mismatches is difficult.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Existing systems have limited </a:t>
            </a:r>
            <a:r>
              <a:rPr lang="en-US" b="1" dirty="0"/>
              <a:t>AI-based analysis and risk detection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secure method is needed to verify </a:t>
            </a:r>
            <a:r>
              <a:rPr lang="en-US" b="1" dirty="0"/>
              <a:t>document integrity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Problem Statement</a:t>
            </a:r>
            <a:r>
              <a:rPr lang="en-US" b="1" dirty="0"/>
              <a:t>:</a:t>
            </a:r>
          </a:p>
          <a:p>
            <a:r>
              <a:rPr lang="en-US" dirty="0"/>
              <a:t>To develop an AI and blockchain-based system that analyses property documents, verifies ownership, detects inconsistencies and risks, and provides a secure verification report.</a:t>
            </a:r>
          </a:p>
        </p:txBody>
      </p:sp>
    </p:spTree>
    <p:extLst>
      <p:ext uri="{BB962C8B-B14F-4D97-AF65-F5344CB8AC3E}">
        <p14:creationId xmlns:p14="http://schemas.microsoft.com/office/powerpoint/2010/main" val="1260986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274DF-B47A-4168-A9E2-BC7F43AFD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- system flow </a:t>
            </a:r>
            <a:endParaRPr lang="en-IN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82638C36-68F1-4802-8F23-9BA2EF509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2ED51B2-A495-4FF3-9381-5F773A4E7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211" y="2121407"/>
            <a:ext cx="7003577" cy="405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72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017AA-83FB-44BC-B5A0-3F60356CB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F95BFFF-AC46-4889-A622-EB83248D48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0374404"/>
              </p:ext>
            </p:extLst>
          </p:nvPr>
        </p:nvGraphicFramePr>
        <p:xfrm>
          <a:off x="1069975" y="1819275"/>
          <a:ext cx="10058400" cy="4819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25">
                  <a:extLst>
                    <a:ext uri="{9D8B030D-6E8A-4147-A177-3AD203B41FA5}">
                      <a16:colId xmlns:a16="http://schemas.microsoft.com/office/drawing/2014/main" val="44122452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623231819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3202922136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104497679"/>
                    </a:ext>
                  </a:extLst>
                </a:gridCol>
                <a:gridCol w="4013200">
                  <a:extLst>
                    <a:ext uri="{9D8B030D-6E8A-4147-A177-3AD203B41FA5}">
                      <a16:colId xmlns:a16="http://schemas.microsoft.com/office/drawing/2014/main" val="2504245877"/>
                    </a:ext>
                  </a:extLst>
                </a:gridCol>
              </a:tblGrid>
              <a:tr h="682307">
                <a:tc>
                  <a:txBody>
                    <a:bodyPr/>
                    <a:lstStyle/>
                    <a:p>
                      <a:r>
                        <a:rPr lang="en-US" sz="1200" dirty="0"/>
                        <a:t>Ref. no.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Title of the Paper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Author / Publication / Year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Technique Used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Summary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963101"/>
                  </a:ext>
                </a:extLst>
              </a:tr>
              <a:tr h="877252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Land records on Blockchain for implementation of Land Titling in India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Vinay Thakur et al. /  International Journal of  Information Management  / 2020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Blockchain, smart contracts, land records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Discusses fragmented Indian land records, transparency and security issues, and proposes </a:t>
                      </a:r>
                      <a:r>
                        <a:rPr lang="en-US" sz="1200" dirty="0" err="1"/>
                        <a:t>blockchainbased</a:t>
                      </a:r>
                      <a:r>
                        <a:rPr lang="en-US" sz="1200" dirty="0"/>
                        <a:t> land-record and land-titling architecture. 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485013"/>
                  </a:ext>
                </a:extLst>
              </a:tr>
              <a:tr h="877252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Blockchain as a tool to facilitate property rights protection in the Global South: lessons from  India’s Andhra Pradesh state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Third World Quarterly / 2022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Blockchain, land administration, property rights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Studies an Indian blockchain </a:t>
                      </a:r>
                      <a:r>
                        <a:rPr lang="en-US" sz="1200" dirty="0" err="1"/>
                        <a:t>landregistry</a:t>
                      </a:r>
                      <a:r>
                        <a:rPr lang="en-US" sz="1200" dirty="0"/>
                        <a:t> initiative and discusses benefits, adoption barriers and institutional requirements. 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54572"/>
                  </a:ext>
                </a:extLst>
              </a:tr>
              <a:tr h="877252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 systematic review of the institutional success factors for  blockchain-based land administration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Land Use Policy /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Systematic review, blockchain land administration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Shows that successful blockchain land administration depends not only on technology but also on regulative, normative and institutional support. 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07645"/>
                  </a:ext>
                </a:extLst>
              </a:tr>
              <a:tr h="791212"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Design and Implementation of a  Geospatially Enabled  Blockchain Application for  Land Record Management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ISPRS Annals / 2025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Blockchain, GIS, hashing, smart contracts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Combines geospatial data with blockchain for land-record integrity, transaction traceability and stakeholder confidence. 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560289"/>
                  </a:ext>
                </a:extLst>
              </a:tr>
              <a:tr h="682307"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Blockchain-enabled secure land record management system with a new lightweight cryptosystem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Blockchain: Research and Applications / 2026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Blockchain, IPFS, encryption, land records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Presents a privacy-oriented blockchain land-record framework and reinforces the value of protecting sensitive land data while maintaining integrity. 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710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4304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3C9C7-F4AC-4DFB-BEFD-8E334A456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&amp; Objective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0B21-EEA5-4CBC-A828-BD3A92A90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475" y="1752600"/>
            <a:ext cx="10629900" cy="4724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u="sng" dirty="0"/>
              <a:t>Scope</a:t>
            </a:r>
          </a:p>
          <a:p>
            <a:r>
              <a:rPr lang="en-US" sz="1600" b="1" dirty="0"/>
              <a:t>Document Upload:</a:t>
            </a:r>
            <a:r>
              <a:rPr lang="en-US" sz="1600" dirty="0"/>
              <a:t> Accept property documents in PDF/image format. </a:t>
            </a:r>
          </a:p>
          <a:p>
            <a:r>
              <a:rPr lang="en-US" sz="1600" b="1" dirty="0"/>
              <a:t>OCR &amp; Data Extraction:</a:t>
            </a:r>
            <a:r>
              <a:rPr lang="en-US" sz="1600" dirty="0"/>
              <a:t> Extract names, dates, survey numbers, property area, ownership details, etc. </a:t>
            </a:r>
          </a:p>
          <a:p>
            <a:r>
              <a:rPr lang="en-US" sz="1600" b="1" dirty="0"/>
              <a:t>AI/NLP Analysis:</a:t>
            </a:r>
            <a:r>
              <a:rPr lang="en-US" sz="1600" dirty="0"/>
              <a:t> Understand and analyze the extracted legal/property information. </a:t>
            </a:r>
          </a:p>
          <a:p>
            <a:r>
              <a:rPr lang="en-US" sz="1600" b="1" dirty="0"/>
              <a:t>Cross-Document Validation:</a:t>
            </a:r>
            <a:r>
              <a:rPr lang="en-US" sz="1600" dirty="0"/>
              <a:t> Compare information across multiple property documents. </a:t>
            </a:r>
          </a:p>
          <a:p>
            <a:r>
              <a:rPr lang="en-US" sz="1600" b="1" dirty="0"/>
              <a:t>Fraud &amp; Risk Detection:</a:t>
            </a:r>
            <a:r>
              <a:rPr lang="en-US" sz="1600" dirty="0"/>
              <a:t> Identify mismatched, suspicious, missing, or potentially manipulated information. </a:t>
            </a:r>
          </a:p>
          <a:p>
            <a:r>
              <a:rPr lang="en-US" sz="1600" b="1" dirty="0"/>
              <a:t>Blockchain Security:</a:t>
            </a:r>
            <a:r>
              <a:rPr lang="en-US" sz="1600" dirty="0"/>
              <a:t> Store document hashes and verification records on blockchain to ensure tamper evidence. </a:t>
            </a:r>
          </a:p>
          <a:p>
            <a:r>
              <a:rPr lang="en-US" sz="1600" b="1" dirty="0"/>
              <a:t>Ownership Workflow:</a:t>
            </a:r>
            <a:r>
              <a:rPr lang="en-US" sz="1600" dirty="0"/>
              <a:t> Support a structured property ownership/transfer verification process. </a:t>
            </a:r>
          </a:p>
          <a:p>
            <a:r>
              <a:rPr lang="en-US" sz="1600" b="1" dirty="0"/>
              <a:t>Risk Report:</a:t>
            </a:r>
            <a:r>
              <a:rPr lang="en-US" sz="1600" dirty="0"/>
              <a:t> Generate a clear </a:t>
            </a:r>
            <a:r>
              <a:rPr lang="en-US" sz="1600" b="1" dirty="0"/>
              <a:t>Verified / Needs Review / Flagged</a:t>
            </a:r>
            <a:r>
              <a:rPr lang="en-US" sz="1600" dirty="0"/>
              <a:t> result with reasons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1900" b="1" u="sng" dirty="0"/>
              <a:t>Objective</a:t>
            </a:r>
          </a:p>
          <a:p>
            <a:r>
              <a:rPr lang="en-US" sz="1600" dirty="0"/>
              <a:t>To develop an </a:t>
            </a:r>
            <a:r>
              <a:rPr lang="en-US" sz="1600" b="1" dirty="0"/>
              <a:t>AI + Blockchain-based Property Document Verification System</a:t>
            </a:r>
            <a:r>
              <a:rPr lang="en-US" sz="1600" dirty="0"/>
              <a:t> that automatically analyzes property documents, detects inconsistencies or fraud, and provides a secure, tamper-proof ownership verification record.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sz="1900" b="1" u="sng" dirty="0"/>
              <a:t>Main Goal</a:t>
            </a:r>
          </a:p>
          <a:p>
            <a:r>
              <a:rPr lang="en-US" sz="1700" b="1" dirty="0"/>
              <a:t>“Make property-document verification faster, more transparent, secure, and resistant to document tampering.”</a:t>
            </a:r>
            <a:endParaRPr lang="en-US" sz="17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508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7047A-75EA-476F-8B03-8819AFB7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Contribution in Society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17FB8-01D3-4736-972A-3D2BE3EAC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933575"/>
            <a:ext cx="10058400" cy="4619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🌍 </a:t>
            </a:r>
            <a:r>
              <a:rPr lang="en-US" sz="1800" b="1" u="sng" dirty="0"/>
              <a:t>Social Contribution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Reduces Property Fraud:</a:t>
            </a:r>
            <a:r>
              <a:rPr lang="en-US" sz="1600" dirty="0"/>
              <a:t> Helps identify forged, manipulated, and inconsistent property documents.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Improves Transparency:</a:t>
            </a:r>
            <a:r>
              <a:rPr lang="en-US" sz="1600" dirty="0"/>
              <a:t> Provides a clear verification trail for property-related transactions.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Saves Time &amp; Cost:</a:t>
            </a:r>
            <a:r>
              <a:rPr lang="en-US" sz="1600" dirty="0"/>
              <a:t> Automates document analysis and reduces dependency on lengthy manual verification.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Protects Citizens:</a:t>
            </a:r>
            <a:r>
              <a:rPr lang="en-US" sz="1600" dirty="0"/>
              <a:t> Helps buyers, sellers, and property owners identify potential risks before transactions.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Secure Digital Records:</a:t>
            </a:r>
            <a:r>
              <a:rPr lang="en-US" sz="1600" dirty="0"/>
              <a:t> Blockchain creates a </a:t>
            </a:r>
            <a:r>
              <a:rPr lang="en-US" sz="1600" b="1" dirty="0"/>
              <a:t>tamper-evident</a:t>
            </a:r>
            <a:r>
              <a:rPr lang="en-US" sz="1600" dirty="0"/>
              <a:t> record of verification.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Supports Legal &amp; Financial Sectors:</a:t>
            </a:r>
            <a:r>
              <a:rPr lang="en-US" sz="1600" dirty="0"/>
              <a:t> Can assist lawyers, banks, real-estate agencies, and government authorities in preliminary document verification.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Promotes Digital Governance:</a:t>
            </a:r>
            <a:r>
              <a:rPr lang="en-US" sz="1600" dirty="0"/>
              <a:t> Encourages secure and technology-driven property management. </a:t>
            </a:r>
          </a:p>
          <a:p>
            <a:pPr marL="0" indent="0">
              <a:buNone/>
            </a:pPr>
            <a:r>
              <a:rPr lang="en-US" sz="1600" b="1" dirty="0"/>
              <a:t>💡 </a:t>
            </a:r>
            <a:r>
              <a:rPr lang="en-US" sz="1800" b="1" u="sng" dirty="0"/>
              <a:t>Social Impact</a:t>
            </a:r>
          </a:p>
          <a:p>
            <a:r>
              <a:rPr lang="en-US" sz="1600" b="1" dirty="0"/>
              <a:t>“Safer property transactions, fewer fraudulent deals, and greater trust in digital property records.”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32819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6C282-ECDE-4BF5-89DF-742B239EF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BFEEE-9651-4558-B5DF-A21327578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47849"/>
            <a:ext cx="10058400" cy="46767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/>
              <a:t>🚀 </a:t>
            </a:r>
            <a:r>
              <a:rPr lang="en-US" sz="1900" b="1" u="sng" dirty="0"/>
              <a:t>Future Scope of the Project</a:t>
            </a:r>
          </a:p>
          <a:p>
            <a:r>
              <a:rPr lang="en-US" sz="1600" b="1" dirty="0"/>
              <a:t>Government Record Integration:</a:t>
            </a:r>
            <a:r>
              <a:rPr lang="en-US" sz="1600" dirty="0"/>
              <a:t> Connect with authorized land and property databases for real-time verification. </a:t>
            </a:r>
          </a:p>
          <a:p>
            <a:r>
              <a:rPr lang="en-US" sz="1600" b="1" dirty="0"/>
              <a:t>Advanced AI Fraud Detection:</a:t>
            </a:r>
            <a:r>
              <a:rPr lang="en-US" sz="1600" dirty="0"/>
              <a:t> Use Machine Learning to detect sophisticated document forgery, alteration, and suspicious ownership patterns. </a:t>
            </a:r>
          </a:p>
          <a:p>
            <a:r>
              <a:rPr lang="en-US" sz="1600" b="1" dirty="0"/>
              <a:t>Multilingual Document Support:</a:t>
            </a:r>
            <a:r>
              <a:rPr lang="en-US" sz="1600" dirty="0"/>
              <a:t> Analyze property documents in </a:t>
            </a:r>
            <a:r>
              <a:rPr lang="en-US" sz="1600" b="1" dirty="0"/>
              <a:t>English, Hindi, Marathi, and other regional languages</a:t>
            </a:r>
            <a:r>
              <a:rPr lang="en-US" sz="1600" dirty="0"/>
              <a:t>. </a:t>
            </a:r>
          </a:p>
          <a:p>
            <a:r>
              <a:rPr lang="en-US" sz="1600" b="1" dirty="0"/>
              <a:t>Smart Legal Assistance:</a:t>
            </a:r>
            <a:r>
              <a:rPr lang="en-US" sz="1600" dirty="0"/>
              <a:t> Integrate an AI chatbot to explain property-document issues and verification results in simple language. </a:t>
            </a:r>
          </a:p>
          <a:p>
            <a:r>
              <a:rPr lang="en-US" sz="1600" b="1" dirty="0"/>
              <a:t>GIS &amp; Property Mapping:</a:t>
            </a:r>
            <a:r>
              <a:rPr lang="en-US" sz="1600" dirty="0"/>
              <a:t> Link verified properties with </a:t>
            </a:r>
            <a:r>
              <a:rPr lang="en-US" sz="1600" b="1" dirty="0"/>
              <a:t>location, survey maps, and GIS data</a:t>
            </a:r>
            <a:r>
              <a:rPr lang="en-US" sz="1600" dirty="0"/>
              <a:t>. </a:t>
            </a:r>
          </a:p>
          <a:p>
            <a:r>
              <a:rPr lang="en-US" sz="1600" b="1" dirty="0"/>
              <a:t>Smart Contracts:</a:t>
            </a:r>
            <a:r>
              <a:rPr lang="en-US" sz="1600" dirty="0"/>
              <a:t> Automate ownership transfer and transaction workflows using blockchain smart contracts. </a:t>
            </a:r>
          </a:p>
          <a:p>
            <a:r>
              <a:rPr lang="en-US" sz="1600" b="1" dirty="0"/>
              <a:t>Mobile Application:</a:t>
            </a:r>
            <a:r>
              <a:rPr lang="en-US" sz="1600" dirty="0"/>
              <a:t> Provide property verification services through a secure Android/iOS application. </a:t>
            </a:r>
          </a:p>
          <a:p>
            <a:r>
              <a:rPr lang="en-US" sz="1600" b="1" dirty="0"/>
              <a:t>Scalable Blockchain Network:</a:t>
            </a:r>
            <a:r>
              <a:rPr lang="en-US" sz="1600" dirty="0"/>
              <a:t> Expand the system for use by </a:t>
            </a:r>
            <a:r>
              <a:rPr lang="en-US" sz="1600" b="1" dirty="0"/>
              <a:t>banks, legal firms, real-estate companies, and government agencies</a:t>
            </a:r>
            <a:r>
              <a:rPr lang="en-US" sz="1600" dirty="0"/>
              <a:t>. </a:t>
            </a:r>
          </a:p>
          <a:p>
            <a:pPr marL="0" indent="0">
              <a:buNone/>
            </a:pPr>
            <a:r>
              <a:rPr lang="en-US" sz="1600" b="1" dirty="0"/>
              <a:t>🔮 </a:t>
            </a:r>
            <a:r>
              <a:rPr lang="en-US" sz="1900" b="1" u="sng" dirty="0"/>
              <a:t>Long-Term Vision</a:t>
            </a:r>
          </a:p>
          <a:p>
            <a:r>
              <a:rPr lang="en-US" sz="1600" b="1" dirty="0"/>
              <a:t>Create a trusted digital ecosystem for secure, transparent, and intelligent property verification and ownership management.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3816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9B71F-D652-4A29-B2A4-45A0C2FA2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16208-B506-4C94-8E33-BC655967B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The proposed system combines </a:t>
            </a:r>
            <a:r>
              <a:rPr lang="en-IN" sz="2400" b="1" dirty="0"/>
              <a:t>AI, OCR, NLP, and Blockchain</a:t>
            </a:r>
            <a:r>
              <a:rPr lang="en-IN" sz="2400" dirty="0"/>
              <a:t> to make property document verification faster, safer, and more transparent. It helps detect document inconsistencies and potential fraud while maintaining a secure, tamper-evident verification record.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US" b="1" dirty="0"/>
              <a:t>🎯 </a:t>
            </a:r>
            <a:r>
              <a:rPr lang="en-US" b="1" u="sng" dirty="0"/>
              <a:t>Final Outcome</a:t>
            </a:r>
          </a:p>
          <a:p>
            <a:r>
              <a:rPr lang="en-US" sz="2400" b="1" dirty="0"/>
              <a:t>A secure, intelligent, and transparent approach to property document verification that can help build greater trust in digital property transactions.</a:t>
            </a:r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034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469BE-8881-44E4-887E-643E29A53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DAD4A3-19D0-48DA-BDD6-F52E761391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 of Land Resources, Government of India – DILRMP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https://dolr.gov.in/en/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 Code – Registration Act, 1908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https://www.indiacode.nic.in/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 Code – Transfer of Property Act, 1882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https://www.indiacode.nic.in/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Ministry of Electronics &amp; Information Technology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MeitY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Government of India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https://www.meity.gov.in/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Ethereum Documentation – Smart Contracts &amp; Blockchain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https://ethereum.org/developers/docs/smart-contracts/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Tesseract OCR – Official Documentation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https://tesseract-ocr.github.io/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2878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102</TotalTime>
  <Words>1142</Words>
  <Application>Microsoft Office PowerPoint</Application>
  <PresentationFormat>Widescreen</PresentationFormat>
  <Paragraphs>121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Rockwell</vt:lpstr>
      <vt:lpstr>Rockwell Condensed</vt:lpstr>
      <vt:lpstr>Wingdings</vt:lpstr>
      <vt:lpstr>Wood Type</vt:lpstr>
      <vt:lpstr>PROPCHAIN-AI BLOCKCHAIN-BASED AI SYSTEM FOR PROPERTY ANALYSIS </vt:lpstr>
      <vt:lpstr>index</vt:lpstr>
      <vt:lpstr>Research Gap Identified</vt:lpstr>
      <vt:lpstr>Problem Statement</vt:lpstr>
      <vt:lpstr>Methodology - system flow </vt:lpstr>
      <vt:lpstr>Literature Survey</vt:lpstr>
      <vt:lpstr>Scope &amp; Objective </vt:lpstr>
      <vt:lpstr>Project Contribution in Society</vt:lpstr>
      <vt:lpstr>Future Scope</vt:lpstr>
      <vt:lpstr>Concusion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PROPCHAIN-AI BLOCKCHAIN-BASED AI SYSTEM FOR PROPERTY ANALYSIS </dc:title>
  <dc:creator>MOHAMMADAZHAR NADAF</dc:creator>
  <cp:lastModifiedBy>MOHAMMADAZHAR NADAF</cp:lastModifiedBy>
  <cp:revision>11</cp:revision>
  <dcterms:created xsi:type="dcterms:W3CDTF">2026-09-09T20:09:56Z</dcterms:created>
  <dcterms:modified xsi:type="dcterms:W3CDTF">2026-09-09T21:52:30Z</dcterms:modified>
</cp:coreProperties>
</file>
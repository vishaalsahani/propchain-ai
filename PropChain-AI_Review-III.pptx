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seline" id="{400d9611-7e52-b8a7-7873-922f126f8162}">
          <p14:sldIdLst>
            <p14:sldId id="256"/>
            <p14:sldId id="257"/>
          </p14:sldIdLst>
        </p14:section>
        <p14:section name="Analysis" id="{37dbb753-d9a7-7b83-3c04-a3caa670b724}">
          <p14:sldIdLst>
            <p14:sldId id="258"/>
            <p14:sldId id="259"/>
            <p14:sldId id="260"/>
            <p14:sldId id="261"/>
          </p14:sldIdLst>
        </p14:section>
        <p14:section name="Requirements" id="{83dc1576-7aa3-f626-8715-92b4b6764c28}">
          <p14:sldIdLst>
            <p14:sldId id="262"/>
            <p14:sldId id="263"/>
            <p14:sldId id="264"/>
            <p14:sldId id="265"/>
          </p14:sldIdLst>
        </p14:section>
        <p14:section name="Design &amp; Acceptance" id="{6034a408-a38d-1f7b-ed8e-86a3877d475e}">
          <p14:sldIdLst>
            <p14:sldId id="266"/>
            <p14:sldId id="267"/>
            <p14:sldId id="268"/>
          </p14:sldIdLst>
        </p14:section>
        <p14:section name="Wrap-up" id="{8aaa968c-249a-3a7d-e092-e0a73b3b8af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81381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468880"/>
            <a:ext cx="8138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PropChain-AI  |  Project Review III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PROPCHAIN-AI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4688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Blockchain-Based AI System for Property Analysis</a:t>
            </a:r>
            <a:endParaRPr lang="en-US" sz="2400" dirty="0"/>
          </a:p>
        </p:txBody>
      </p:sp>
      <p:sp>
        <p:nvSpPr>
          <p:cNvPr id="4" name="Review badge"/>
          <p:cNvSpPr txBox="1"/>
          <p:nvPr/>
        </p:nvSpPr>
        <p:spPr>
          <a:xfrm>
            <a:off x="9052560" y="1371600"/>
            <a:ext cx="2560320" cy="2560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III</a:t>
            </a:r>
            <a:endParaRPr lang="en-US" sz="7200" dirty="0"/>
          </a:p>
        </p:txBody>
      </p:sp>
      <p:sp>
        <p:nvSpPr>
          <p:cNvPr id="5" name="Review label"/>
          <p:cNvSpPr txBox="1"/>
          <p:nvPr/>
        </p:nvSpPr>
        <p:spPr>
          <a:xfrm>
            <a:off x="731520" y="3429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PROJECT REVIEW III  |  Requirements &amp; Analysis</a:t>
            </a:r>
            <a:endParaRPr lang="en-US" sz="1800" dirty="0"/>
          </a:p>
        </p:txBody>
      </p:sp>
      <p:sp>
        <p:nvSpPr>
          <p:cNvPr id="6" name="Team"/>
          <p:cNvSpPr txBox="1"/>
          <p:nvPr/>
        </p:nvSpPr>
        <p:spPr>
          <a:xfrm>
            <a:off x="731520" y="43891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Nadaf MohammadAzhar  |  MohammadAli Shaikh  |  Vishal Sahani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Guided by: Prof. Hrushikesh Ingole</a:t>
            </a:r>
            <a:endParaRPr lang="en-US" sz="1600" dirty="0"/>
          </a:p>
        </p:txBody>
      </p:sp>
      <p:sp>
        <p:nvSpPr>
          <p:cNvPr id="7" name="Institute"/>
          <p:cNvSpPr txBox="1"/>
          <p:nvPr/>
        </p:nvSpPr>
        <p:spPr>
          <a:xfrm>
            <a:off x="73152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ISBM College of Engineering, Nande, Pune  |  Dept. of AI &amp; ML  |  AY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Scope at a Glance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Baseline from the first review: eight capabilities that every checkpoint builds on</a:t>
            </a:r>
            <a:endParaRPr lang="en-US" sz="1500" dirty="0"/>
          </a:p>
        </p:txBody>
      </p:sp>
      <p:sp>
        <p:nvSpPr>
          <p:cNvPr id="4" name="Scope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</a:t>
            </a:r>
            <a:endParaRPr lang="en-US" sz="2200" dirty="0"/>
          </a:p>
        </p:txBody>
      </p:sp>
      <p:sp>
        <p:nvSpPr>
          <p:cNvPr id="5" name="Document Upload card"/>
          <p:cNvSpPr/>
          <p:nvPr/>
        </p:nvSpPr>
        <p:spPr>
          <a:xfrm>
            <a:off x="548640" y="1691640"/>
            <a:ext cx="260146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FR-1 id"/>
          <p:cNvSpPr txBox="1"/>
          <p:nvPr/>
        </p:nvSpPr>
        <p:spPr>
          <a:xfrm>
            <a:off x="731520" y="1801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FR-1</a:t>
            </a:r>
            <a:endParaRPr lang="en-US" sz="1100" dirty="0"/>
          </a:p>
        </p:txBody>
      </p:sp>
      <p:sp>
        <p:nvSpPr>
          <p:cNvPr id="7" name="Document Upload heading"/>
          <p:cNvSpPr txBox="1"/>
          <p:nvPr/>
        </p:nvSpPr>
        <p:spPr>
          <a:xfrm>
            <a:off x="731520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Document Upload</a:t>
            </a:r>
            <a:endParaRPr lang="en-US" sz="1400" dirty="0"/>
          </a:p>
        </p:txBody>
      </p:sp>
      <p:sp>
        <p:nvSpPr>
          <p:cNvPr id="8" name="Document Upload text"/>
          <p:cNvSpPr txBox="1"/>
          <p:nvPr/>
        </p:nvSpPr>
        <p:spPr>
          <a:xfrm>
            <a:off x="73152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PDF or image property documents</a:t>
            </a:r>
            <a:endParaRPr lang="en-US" sz="1300" dirty="0"/>
          </a:p>
        </p:txBody>
      </p:sp>
      <p:sp>
        <p:nvSpPr>
          <p:cNvPr id="9" name="OCR &amp; Extraction card"/>
          <p:cNvSpPr/>
          <p:nvPr/>
        </p:nvSpPr>
        <p:spPr>
          <a:xfrm>
            <a:off x="3378708" y="1691640"/>
            <a:ext cx="260146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FR-2 id"/>
          <p:cNvSpPr txBox="1"/>
          <p:nvPr/>
        </p:nvSpPr>
        <p:spPr>
          <a:xfrm>
            <a:off x="3561588" y="1801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FR-2</a:t>
            </a:r>
            <a:endParaRPr lang="en-US" sz="1100" dirty="0"/>
          </a:p>
        </p:txBody>
      </p:sp>
      <p:sp>
        <p:nvSpPr>
          <p:cNvPr id="11" name="OCR &amp;amp; Extraction heading"/>
          <p:cNvSpPr txBox="1"/>
          <p:nvPr/>
        </p:nvSpPr>
        <p:spPr>
          <a:xfrm>
            <a:off x="3561588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OCR &amp; Extraction</a:t>
            </a:r>
            <a:endParaRPr lang="en-US" sz="1400" dirty="0"/>
          </a:p>
        </p:txBody>
      </p:sp>
      <p:sp>
        <p:nvSpPr>
          <p:cNvPr id="12" name="OCR &amp;amp; Extraction text"/>
          <p:cNvSpPr txBox="1"/>
          <p:nvPr/>
        </p:nvSpPr>
        <p:spPr>
          <a:xfrm>
            <a:off x="3561588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Names, dates, survey numbers, area, ownership details</a:t>
            </a:r>
            <a:endParaRPr lang="en-US" sz="1300" dirty="0"/>
          </a:p>
        </p:txBody>
      </p:sp>
      <p:sp>
        <p:nvSpPr>
          <p:cNvPr id="13" name="AI / NLP Analysis card"/>
          <p:cNvSpPr/>
          <p:nvPr/>
        </p:nvSpPr>
        <p:spPr>
          <a:xfrm>
            <a:off x="6208776" y="1691640"/>
            <a:ext cx="260146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FR-3 id"/>
          <p:cNvSpPr txBox="1"/>
          <p:nvPr/>
        </p:nvSpPr>
        <p:spPr>
          <a:xfrm>
            <a:off x="6391656" y="1801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FR-3</a:t>
            </a:r>
            <a:endParaRPr lang="en-US" sz="1100" dirty="0"/>
          </a:p>
        </p:txBody>
      </p:sp>
      <p:sp>
        <p:nvSpPr>
          <p:cNvPr id="15" name="AI / NLP Analysis heading"/>
          <p:cNvSpPr txBox="1"/>
          <p:nvPr/>
        </p:nvSpPr>
        <p:spPr>
          <a:xfrm>
            <a:off x="6391656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/ NLP Analysis</a:t>
            </a:r>
            <a:endParaRPr lang="en-US" sz="1400" dirty="0"/>
          </a:p>
        </p:txBody>
      </p:sp>
      <p:sp>
        <p:nvSpPr>
          <p:cNvPr id="16" name="AI / NLP Analysis text"/>
          <p:cNvSpPr txBox="1"/>
          <p:nvPr/>
        </p:nvSpPr>
        <p:spPr>
          <a:xfrm>
            <a:off x="6391656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Understand legal and property information</a:t>
            </a:r>
            <a:endParaRPr lang="en-US" sz="1300" dirty="0"/>
          </a:p>
        </p:txBody>
      </p:sp>
      <p:sp>
        <p:nvSpPr>
          <p:cNvPr id="17" name="Cross-Doc Validation card"/>
          <p:cNvSpPr/>
          <p:nvPr/>
        </p:nvSpPr>
        <p:spPr>
          <a:xfrm>
            <a:off x="9038844" y="1691640"/>
            <a:ext cx="260146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FR-4 id"/>
          <p:cNvSpPr txBox="1"/>
          <p:nvPr/>
        </p:nvSpPr>
        <p:spPr>
          <a:xfrm>
            <a:off x="9221724" y="1801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FR-4</a:t>
            </a:r>
            <a:endParaRPr lang="en-US" sz="1100" dirty="0"/>
          </a:p>
        </p:txBody>
      </p:sp>
      <p:sp>
        <p:nvSpPr>
          <p:cNvPr id="19" name="Cross-Doc Validation heading"/>
          <p:cNvSpPr txBox="1"/>
          <p:nvPr/>
        </p:nvSpPr>
        <p:spPr>
          <a:xfrm>
            <a:off x="9221724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Cross-Doc Validation</a:t>
            </a:r>
            <a:endParaRPr lang="en-US" sz="1400" dirty="0"/>
          </a:p>
        </p:txBody>
      </p:sp>
      <p:sp>
        <p:nvSpPr>
          <p:cNvPr id="20" name="Cross-Doc Validation text"/>
          <p:cNvSpPr txBox="1"/>
          <p:nvPr/>
        </p:nvSpPr>
        <p:spPr>
          <a:xfrm>
            <a:off x="9221724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Compare details across documents</a:t>
            </a:r>
            <a:endParaRPr lang="en-US" sz="1300" dirty="0"/>
          </a:p>
        </p:txBody>
      </p:sp>
      <p:sp>
        <p:nvSpPr>
          <p:cNvPr id="21" name="Fraud &amp; Risk Detection card"/>
          <p:cNvSpPr/>
          <p:nvPr/>
        </p:nvSpPr>
        <p:spPr>
          <a:xfrm>
            <a:off x="548640" y="3520440"/>
            <a:ext cx="260146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FR-5 id"/>
          <p:cNvSpPr txBox="1"/>
          <p:nvPr/>
        </p:nvSpPr>
        <p:spPr>
          <a:xfrm>
            <a:off x="731520" y="3630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FR-5</a:t>
            </a:r>
            <a:endParaRPr lang="en-US" sz="1100" dirty="0"/>
          </a:p>
        </p:txBody>
      </p:sp>
      <p:sp>
        <p:nvSpPr>
          <p:cNvPr id="23" name="Fraud &amp;amp; Risk Detection heading"/>
          <p:cNvSpPr txBox="1"/>
          <p:nvPr/>
        </p:nvSpPr>
        <p:spPr>
          <a:xfrm>
            <a:off x="731520" y="3886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Fraud &amp; Risk Detection</a:t>
            </a:r>
            <a:endParaRPr lang="en-US" sz="1400" dirty="0"/>
          </a:p>
        </p:txBody>
      </p:sp>
      <p:sp>
        <p:nvSpPr>
          <p:cNvPr id="24" name="Fraud &amp;amp; Risk Detection text"/>
          <p:cNvSpPr txBox="1"/>
          <p:nvPr/>
        </p:nvSpPr>
        <p:spPr>
          <a:xfrm>
            <a:off x="731520" y="4251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Flag mismatched, missing or suspicious data</a:t>
            </a:r>
            <a:endParaRPr lang="en-US" sz="1300" dirty="0"/>
          </a:p>
        </p:txBody>
      </p:sp>
      <p:sp>
        <p:nvSpPr>
          <p:cNvPr id="25" name="Blockchain Security card"/>
          <p:cNvSpPr/>
          <p:nvPr/>
        </p:nvSpPr>
        <p:spPr>
          <a:xfrm>
            <a:off x="3378708" y="3520440"/>
            <a:ext cx="260146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FR-6 id"/>
          <p:cNvSpPr txBox="1"/>
          <p:nvPr/>
        </p:nvSpPr>
        <p:spPr>
          <a:xfrm>
            <a:off x="3561588" y="3630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FR-6</a:t>
            </a:r>
            <a:endParaRPr lang="en-US" sz="1100" dirty="0"/>
          </a:p>
        </p:txBody>
      </p:sp>
      <p:sp>
        <p:nvSpPr>
          <p:cNvPr id="27" name="Blockchain Security heading"/>
          <p:cNvSpPr txBox="1"/>
          <p:nvPr/>
        </p:nvSpPr>
        <p:spPr>
          <a:xfrm>
            <a:off x="3561588" y="3886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Blockchain Security</a:t>
            </a:r>
            <a:endParaRPr lang="en-US" sz="1400" dirty="0"/>
          </a:p>
        </p:txBody>
      </p:sp>
      <p:sp>
        <p:nvSpPr>
          <p:cNvPr id="28" name="Blockchain Security text"/>
          <p:cNvSpPr txBox="1"/>
          <p:nvPr/>
        </p:nvSpPr>
        <p:spPr>
          <a:xfrm>
            <a:off x="3561588" y="4251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SHA-256 hashes and verification events on-chain</a:t>
            </a:r>
            <a:endParaRPr lang="en-US" sz="1300" dirty="0"/>
          </a:p>
        </p:txBody>
      </p:sp>
      <p:sp>
        <p:nvSpPr>
          <p:cNvPr id="29" name="Ownership Workflow card"/>
          <p:cNvSpPr/>
          <p:nvPr/>
        </p:nvSpPr>
        <p:spPr>
          <a:xfrm>
            <a:off x="6208776" y="3520440"/>
            <a:ext cx="260146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FR-7 id"/>
          <p:cNvSpPr txBox="1"/>
          <p:nvPr/>
        </p:nvSpPr>
        <p:spPr>
          <a:xfrm>
            <a:off x="6391656" y="3630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FR-7</a:t>
            </a:r>
            <a:endParaRPr lang="en-US" sz="1100" dirty="0"/>
          </a:p>
        </p:txBody>
      </p:sp>
      <p:sp>
        <p:nvSpPr>
          <p:cNvPr id="31" name="Ownership Workflow heading"/>
          <p:cNvSpPr txBox="1"/>
          <p:nvPr/>
        </p:nvSpPr>
        <p:spPr>
          <a:xfrm>
            <a:off x="6391656" y="3886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Ownership Workflow</a:t>
            </a:r>
            <a:endParaRPr lang="en-US" sz="1400" dirty="0"/>
          </a:p>
        </p:txBody>
      </p:sp>
      <p:sp>
        <p:nvSpPr>
          <p:cNvPr id="32" name="Ownership Workflow text"/>
          <p:cNvSpPr txBox="1"/>
          <p:nvPr/>
        </p:nvSpPr>
        <p:spPr>
          <a:xfrm>
            <a:off x="6391656" y="4251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Structured ownership / transfer verification</a:t>
            </a:r>
            <a:endParaRPr lang="en-US" sz="1300" dirty="0"/>
          </a:p>
        </p:txBody>
      </p:sp>
      <p:sp>
        <p:nvSpPr>
          <p:cNvPr id="33" name="Risk Report card"/>
          <p:cNvSpPr/>
          <p:nvPr/>
        </p:nvSpPr>
        <p:spPr>
          <a:xfrm>
            <a:off x="9038844" y="3520440"/>
            <a:ext cx="260146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FR-8 id"/>
          <p:cNvSpPr txBox="1"/>
          <p:nvPr/>
        </p:nvSpPr>
        <p:spPr>
          <a:xfrm>
            <a:off x="9221724" y="3630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FR-8</a:t>
            </a:r>
            <a:endParaRPr lang="en-US" sz="1100" dirty="0"/>
          </a:p>
        </p:txBody>
      </p:sp>
      <p:sp>
        <p:nvSpPr>
          <p:cNvPr id="35" name="Risk Report heading"/>
          <p:cNvSpPr txBox="1"/>
          <p:nvPr/>
        </p:nvSpPr>
        <p:spPr>
          <a:xfrm>
            <a:off x="9221724" y="3886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Risk Report</a:t>
            </a:r>
            <a:endParaRPr lang="en-US" sz="1400" dirty="0"/>
          </a:p>
        </p:txBody>
      </p:sp>
      <p:sp>
        <p:nvSpPr>
          <p:cNvPr id="36" name="Risk Report text"/>
          <p:cNvSpPr txBox="1"/>
          <p:nvPr/>
        </p:nvSpPr>
        <p:spPr>
          <a:xfrm>
            <a:off x="9221724" y="4251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Verified / Needs Review / Flagged, with reasons</a:t>
            </a:r>
            <a:endParaRPr lang="en-US" sz="1300" dirty="0"/>
          </a:p>
        </p:txBody>
      </p:sp>
      <p:sp>
        <p:nvSpPr>
          <p:cNvPr id="37" name="Summary banner"/>
          <p:cNvSpPr txBox="1"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Objective: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 AI + Blockchain property-document verification system that detects inconsistencies or fraud and issues a secure, tamper-proof ownership verification record.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Information Domain Analysis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Is the information domain analysis complete, consistent and accurate?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1 of 12</a:t>
            </a:r>
            <a:endParaRPr lang="en-US" sz="1000" dirty="0"/>
          </a:p>
        </p:txBody>
      </p:sp>
      <p:sp>
        <p:nvSpPr>
          <p:cNvPr id="6" name="Input: information content card"/>
          <p:cNvSpPr/>
          <p:nvPr/>
        </p:nvSpPr>
        <p:spPr>
          <a:xfrm>
            <a:off x="548640" y="1691640"/>
            <a:ext cx="338328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Input: information content heading"/>
          <p:cNvSpPr txBox="1"/>
          <p:nvPr/>
        </p:nvSpPr>
        <p:spPr>
          <a:xfrm>
            <a:off x="731520" y="18013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Input: information content</a:t>
            </a:r>
            <a:endParaRPr lang="en-US" sz="1600" dirty="0"/>
          </a:p>
        </p:txBody>
      </p:sp>
      <p:sp>
        <p:nvSpPr>
          <p:cNvPr id="8" name="Input: information content text"/>
          <p:cNvSpPr txBox="1"/>
          <p:nvPr/>
        </p:nvSpPr>
        <p:spPr>
          <a:xfrm>
            <a:off x="731520" y="2221992"/>
            <a:ext cx="301752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Property documents as PDF / image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e.g. sale deed, 7/12 extract, 8A, property card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Fields: owner names, dates, survey numbers, area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Languages: English and Marathi</a:t>
            </a:r>
            <a:endParaRPr lang="en-US" sz="1400" dirty="0"/>
          </a:p>
        </p:txBody>
      </p:sp>
      <p:sp>
        <p:nvSpPr>
          <p:cNvPr id="9" name="Process: information flow card"/>
          <p:cNvSpPr/>
          <p:nvPr/>
        </p:nvSpPr>
        <p:spPr>
          <a:xfrm>
            <a:off x="4389120" y="1691640"/>
            <a:ext cx="338328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Process: information flow heading"/>
          <p:cNvSpPr txBox="1"/>
          <p:nvPr/>
        </p:nvSpPr>
        <p:spPr>
          <a:xfrm>
            <a:off x="4572000" y="18013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Process: information flow</a:t>
            </a:r>
            <a:endParaRPr lang="en-US" sz="1600" dirty="0"/>
          </a:p>
        </p:txBody>
      </p:sp>
      <p:sp>
        <p:nvSpPr>
          <p:cNvPr id="11" name="Process: information flow text"/>
          <p:cNvSpPr txBox="1"/>
          <p:nvPr/>
        </p:nvSpPr>
        <p:spPr>
          <a:xfrm>
            <a:off x="4572000" y="2221992"/>
            <a:ext cx="301752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OCR → NLP entity extraction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 classification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Cross-document comparison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Ownership graph + Maharashtra legal rules</a:t>
            </a:r>
            <a:endParaRPr lang="en-US" sz="1400" dirty="0"/>
          </a:p>
        </p:txBody>
      </p:sp>
      <p:sp>
        <p:nvSpPr>
          <p:cNvPr id="12" name="Output: information produced card"/>
          <p:cNvSpPr/>
          <p:nvPr/>
        </p:nvSpPr>
        <p:spPr>
          <a:xfrm>
            <a:off x="8229600" y="1691640"/>
            <a:ext cx="3410712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Output: information produced heading"/>
          <p:cNvSpPr txBox="1"/>
          <p:nvPr/>
        </p:nvSpPr>
        <p:spPr>
          <a:xfrm>
            <a:off x="8412480" y="180136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Output: information produced</a:t>
            </a:r>
            <a:endParaRPr lang="en-US" sz="1600" dirty="0"/>
          </a:p>
        </p:txBody>
      </p:sp>
      <p:sp>
        <p:nvSpPr>
          <p:cNvPr id="14" name="Output: information produced text"/>
          <p:cNvSpPr txBox="1"/>
          <p:nvPr/>
        </p:nvSpPr>
        <p:spPr>
          <a:xfrm>
            <a:off x="8412480" y="2221992"/>
            <a:ext cx="304495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Verified / Needs Review / Flagged result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Reasons for every flag raised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SHA-256 fingerprint of each document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Verification event recorded on-chain</a:t>
            </a:r>
            <a:endParaRPr lang="en-US" sz="1400" dirty="0"/>
          </a:p>
        </p:txBody>
      </p:sp>
      <p:sp>
        <p:nvSpPr>
          <p:cNvPr id="15" name="Flow arrow"/>
          <p:cNvSpPr/>
          <p:nvPr/>
        </p:nvSpPr>
        <p:spPr>
          <a:xfrm>
            <a:off x="3977640" y="3154680"/>
            <a:ext cx="365760" cy="310896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6" name="Flow arrow"/>
          <p:cNvSpPr/>
          <p:nvPr/>
        </p:nvSpPr>
        <p:spPr>
          <a:xfrm>
            <a:off x="7818120" y="3154680"/>
            <a:ext cx="365760" cy="310896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7" name="Summary banner"/>
          <p:cNvSpPr txBox="1"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Consistent: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same entities (owner, survey number, area, date) are tracked from extraction to report.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Accurate: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every extracted field is cross-checked across documents before a verdict.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 Categorisation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Is the problem statement categorised and aimed at a specific area?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2 of 12</a:t>
            </a:r>
            <a:endParaRPr lang="en-US" sz="1000" dirty="0"/>
          </a:p>
        </p:txBody>
      </p:sp>
      <p:sp>
        <p:nvSpPr>
          <p:cNvPr id="6" name="DOMAIN label"/>
          <p:cNvSpPr txBox="1"/>
          <p:nvPr/>
        </p:nvSpPr>
        <p:spPr>
          <a:xfrm>
            <a:off x="548640" y="169164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DOMAIN</a:t>
            </a:r>
            <a:endParaRPr lang="en-US" sz="1400" dirty="0"/>
          </a:p>
        </p:txBody>
      </p:sp>
      <p:sp>
        <p:nvSpPr>
          <p:cNvPr id="7" name="DOMAIN text"/>
          <p:cNvSpPr txBox="1"/>
          <p:nvPr/>
        </p:nvSpPr>
        <p:spPr>
          <a:xfrm>
            <a:off x="2926080" y="1691640"/>
            <a:ext cx="87142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Real estate and land records: property due-diligence for buyers, banks and lawyers</a:t>
            </a:r>
            <a:endParaRPr lang="en-US" sz="1500" dirty="0"/>
          </a:p>
        </p:txBody>
      </p:sp>
      <p:sp>
        <p:nvSpPr>
          <p:cNvPr id="8" name="SPECIFIC AREA label"/>
          <p:cNvSpPr txBox="1"/>
          <p:nvPr/>
        </p:nvSpPr>
        <p:spPr>
          <a:xfrm>
            <a:off x="548640" y="2880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SPECIFIC AREA</a:t>
            </a:r>
            <a:endParaRPr lang="en-US" sz="1400" dirty="0"/>
          </a:p>
        </p:txBody>
      </p:sp>
      <p:sp>
        <p:nvSpPr>
          <p:cNvPr id="9" name="SPECIFIC AREA text"/>
          <p:cNvSpPr txBox="1"/>
          <p:nvPr/>
        </p:nvSpPr>
        <p:spPr>
          <a:xfrm>
            <a:off x="2926080" y="2880360"/>
            <a:ext cx="87142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Property-document verification: ownership checking, inconsistency and fraud / risk detection, tamper-evident records</a:t>
            </a:r>
            <a:endParaRPr lang="en-US" sz="1500" dirty="0"/>
          </a:p>
        </p:txBody>
      </p:sp>
      <p:sp>
        <p:nvSpPr>
          <p:cNvPr id="10" name="APPROACH label"/>
          <p:cNvSpPr txBox="1"/>
          <p:nvPr/>
        </p:nvSpPr>
        <p:spPr>
          <a:xfrm>
            <a:off x="548640" y="406908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APPROACH</a:t>
            </a:r>
            <a:endParaRPr lang="en-US" sz="1400" dirty="0"/>
          </a:p>
        </p:txBody>
      </p:sp>
      <p:sp>
        <p:nvSpPr>
          <p:cNvPr id="11" name="APPROACH text"/>
          <p:cNvSpPr txBox="1"/>
          <p:nvPr/>
        </p:nvSpPr>
        <p:spPr>
          <a:xfrm>
            <a:off x="2926080" y="4069080"/>
            <a:ext cx="87142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(OCR, NLP, classification, rule engine) combined with blockchain integrity verification</a:t>
            </a:r>
            <a:endParaRPr lang="en-US" sz="1500" dirty="0"/>
          </a:p>
        </p:txBody>
      </p:sp>
      <p:sp>
        <p:nvSpPr>
          <p:cNvPr id="12" name="Summary banner"/>
          <p:cNvSpPr txBox="1"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Targeted problem: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manual verification across many documents is slow and error-prone, and no unified system combines AI analysis, ownership-chain checks, legal risk detection and blockchain integrity.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External &amp; Internal Interfaces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Are external and internal interfaces properly defined?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3 of 12</a:t>
            </a:r>
            <a:endParaRPr lang="en-US" sz="1000" dirty="0"/>
          </a:p>
        </p:txBody>
      </p:sp>
      <p:sp>
        <p:nvSpPr>
          <p:cNvPr id="6" name="External interfaces card"/>
          <p:cNvSpPr/>
          <p:nvPr/>
        </p:nvSpPr>
        <p:spPr>
          <a:xfrm>
            <a:off x="548640" y="1691640"/>
            <a:ext cx="46634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External interfaces heading"/>
          <p:cNvSpPr txBox="1"/>
          <p:nvPr/>
        </p:nvSpPr>
        <p:spPr>
          <a:xfrm>
            <a:off x="731520" y="1801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External interfaces</a:t>
            </a:r>
            <a:endParaRPr lang="en-US" sz="1600" dirty="0"/>
          </a:p>
        </p:txBody>
      </p:sp>
      <p:sp>
        <p:nvSpPr>
          <p:cNvPr id="8" name="External interfaces text"/>
          <p:cNvSpPr txBox="1"/>
          <p:nvPr/>
        </p:nvSpPr>
        <p:spPr>
          <a:xfrm>
            <a:off x="731520" y="2221992"/>
            <a:ext cx="42976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Users to web UI over HTTPS (upload, view report)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Backend to blockchain network via Web3.py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Future: authorised government land databases</a:t>
            </a:r>
            <a:endParaRPr lang="en-US" sz="1300" dirty="0"/>
          </a:p>
        </p:txBody>
      </p:sp>
      <p:sp>
        <p:nvSpPr>
          <p:cNvPr id="9" name="Internal interfaces card"/>
          <p:cNvSpPr/>
          <p:nvPr/>
        </p:nvSpPr>
        <p:spPr>
          <a:xfrm>
            <a:off x="548640" y="4572000"/>
            <a:ext cx="46634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Internal interfaces heading"/>
          <p:cNvSpPr txBox="1"/>
          <p:nvPr/>
        </p:nvSpPr>
        <p:spPr>
          <a:xfrm>
            <a:off x="731520" y="46817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Internal interfaces</a:t>
            </a:r>
            <a:endParaRPr lang="en-US" sz="1600" dirty="0"/>
          </a:p>
        </p:txBody>
      </p:sp>
      <p:sp>
        <p:nvSpPr>
          <p:cNvPr id="11" name="Internal interfaces text"/>
          <p:cNvSpPr txBox="1"/>
          <p:nvPr/>
        </p:nvSpPr>
        <p:spPr>
          <a:xfrm>
            <a:off x="731520" y="5102352"/>
            <a:ext cx="4297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UI to API: REST / JSON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API to database: SQL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API to AI modules: Python calls</a:t>
            </a:r>
            <a:endParaRPr lang="en-US" sz="1300" dirty="0"/>
          </a:p>
        </p:txBody>
      </p:sp>
      <p:sp>
        <p:nvSpPr>
          <p:cNvPr id="12" name="Users"/>
          <p:cNvSpPr txBox="1"/>
          <p:nvPr/>
        </p:nvSpPr>
        <p:spPr>
          <a:xfrm>
            <a:off x="548640" y="347472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Buyer · lawyer · bank</a:t>
            </a:r>
            <a:endParaRPr lang="en-US" sz="1600" dirty="0"/>
          </a:p>
        </p:txBody>
      </p:sp>
      <p:sp>
        <p:nvSpPr>
          <p:cNvPr id="13" name="Flow arrow"/>
          <p:cNvSpPr/>
          <p:nvPr/>
        </p:nvSpPr>
        <p:spPr>
          <a:xfrm>
            <a:off x="2606040" y="3753612"/>
            <a:ext cx="365760" cy="310896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4" name="Next.js UI"/>
          <p:cNvSpPr txBox="1"/>
          <p:nvPr/>
        </p:nvSpPr>
        <p:spPr>
          <a:xfrm>
            <a:off x="3017520" y="347472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Next.js UI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TypeScript · Tailwind</a:t>
            </a:r>
            <a:endParaRPr lang="en-US" sz="1600" dirty="0"/>
          </a:p>
        </p:txBody>
      </p:sp>
      <p:sp>
        <p:nvSpPr>
          <p:cNvPr id="15" name="Flow arrow"/>
          <p:cNvSpPr/>
          <p:nvPr/>
        </p:nvSpPr>
        <p:spPr>
          <a:xfrm>
            <a:off x="5257800" y="3753612"/>
            <a:ext cx="365760" cy="310896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6" name="FastAPI backend"/>
          <p:cNvSpPr txBox="1"/>
          <p:nvPr/>
        </p:nvSpPr>
        <p:spPr>
          <a:xfrm>
            <a:off x="5669280" y="1828800"/>
            <a:ext cx="2377440" cy="416052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FastAPI backend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REST / JSON API</a:t>
            </a:r>
            <a:endParaRPr lang="en-US" sz="2000" dirty="0"/>
          </a:p>
        </p:txBody>
      </p:sp>
      <p:sp>
        <p:nvSpPr>
          <p:cNvPr id="17" name="PostgreSQL"/>
          <p:cNvSpPr txBox="1"/>
          <p:nvPr/>
        </p:nvSpPr>
        <p:spPr>
          <a:xfrm>
            <a:off x="8595360" y="1828800"/>
            <a:ext cx="3044952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Users, documents, fields, reports</a:t>
            </a:r>
            <a:endParaRPr lang="en-US" sz="1600" dirty="0"/>
          </a:p>
        </p:txBody>
      </p:sp>
      <p:sp>
        <p:nvSpPr>
          <p:cNvPr id="18" name="Flow arrow"/>
          <p:cNvSpPr/>
          <p:nvPr/>
        </p:nvSpPr>
        <p:spPr>
          <a:xfrm>
            <a:off x="8092440" y="2107692"/>
            <a:ext cx="457200" cy="310896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9" name="AI modules"/>
          <p:cNvSpPr txBox="1"/>
          <p:nvPr/>
        </p:nvSpPr>
        <p:spPr>
          <a:xfrm>
            <a:off x="8595360" y="2926080"/>
            <a:ext cx="3044952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modules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OCR · NLP · classifier · rules · FAISS</a:t>
            </a:r>
            <a:endParaRPr lang="en-US" sz="1600" dirty="0"/>
          </a:p>
        </p:txBody>
      </p:sp>
      <p:sp>
        <p:nvSpPr>
          <p:cNvPr id="20" name="Flow arrow"/>
          <p:cNvSpPr/>
          <p:nvPr/>
        </p:nvSpPr>
        <p:spPr>
          <a:xfrm>
            <a:off x="8092440" y="3204972"/>
            <a:ext cx="457200" cy="310896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1" name="Blockchain (EVM)"/>
          <p:cNvSpPr txBox="1"/>
          <p:nvPr/>
        </p:nvSpPr>
        <p:spPr>
          <a:xfrm>
            <a:off x="8595360" y="4023360"/>
            <a:ext cx="3044952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Blockchain (EVM)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Solidity contract via Web3.py</a:t>
            </a:r>
            <a:endParaRPr lang="en-US" sz="1600" dirty="0"/>
          </a:p>
        </p:txBody>
      </p:sp>
      <p:sp>
        <p:nvSpPr>
          <p:cNvPr id="22" name="Flow arrow"/>
          <p:cNvSpPr/>
          <p:nvPr/>
        </p:nvSpPr>
        <p:spPr>
          <a:xfrm>
            <a:off x="8092440" y="4302252"/>
            <a:ext cx="457200" cy="310896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3" name="Govt. land databases"/>
          <p:cNvSpPr txBox="1"/>
          <p:nvPr/>
        </p:nvSpPr>
        <p:spPr>
          <a:xfrm>
            <a:off x="8595360" y="5120640"/>
            <a:ext cx="30449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Govt. land databases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24" name="Flow arrow"/>
          <p:cNvSpPr/>
          <p:nvPr/>
        </p:nvSpPr>
        <p:spPr>
          <a:xfrm>
            <a:off x="8092440" y="5399532"/>
            <a:ext cx="457200" cy="310896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5" name="External legend"/>
          <p:cNvSpPr/>
          <p:nvPr/>
        </p:nvSpPr>
        <p:spPr>
          <a:xfrm>
            <a:off x="548640" y="6199632"/>
            <a:ext cx="182880" cy="18288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6" name="External legend text"/>
          <p:cNvSpPr txBox="1"/>
          <p:nvPr/>
        </p:nvSpPr>
        <p:spPr>
          <a:xfrm>
            <a:off x="822960" y="6153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External</a:t>
            </a:r>
            <a:endParaRPr lang="en-US" sz="1200" dirty="0"/>
          </a:p>
        </p:txBody>
      </p:sp>
      <p:sp>
        <p:nvSpPr>
          <p:cNvPr id="27" name="Internal legend"/>
          <p:cNvSpPr/>
          <p:nvPr/>
        </p:nvSpPr>
        <p:spPr>
          <a:xfrm>
            <a:off x="2011680" y="6199632"/>
            <a:ext cx="182880" cy="18288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8" name="Internal legend text"/>
          <p:cNvSpPr txBox="1"/>
          <p:nvPr/>
        </p:nvSpPr>
        <p:spPr>
          <a:xfrm>
            <a:off x="2286000" y="6153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Internal</a:t>
            </a:r>
            <a:endParaRPr lang="en-US" sz="1200" dirty="0"/>
          </a:p>
        </p:txBody>
      </p:sp>
      <p:sp>
        <p:nvSpPr>
          <p:cNvPr id="29" name="Future legend"/>
          <p:cNvSpPr/>
          <p:nvPr/>
        </p:nvSpPr>
        <p:spPr>
          <a:xfrm>
            <a:off x="3474720" y="6199632"/>
            <a:ext cx="182880" cy="1828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30" name="Future legend text"/>
          <p:cNvSpPr txBox="1"/>
          <p:nvPr/>
        </p:nvSpPr>
        <p:spPr>
          <a:xfrm>
            <a:off x="3749040" y="6153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Schedule, Resources &amp; Budget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Are requirements consistent with schedule, resources and budget?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4 of 12</a:t>
            </a:r>
            <a:endParaRPr lang="en-US" sz="1000" dirty="0"/>
          </a:p>
        </p:txBody>
      </p:sp>
      <p:sp>
        <p:nvSpPr>
          <p:cNvPr id="6" name="Schedule: five phases card"/>
          <p:cNvSpPr/>
          <p:nvPr/>
        </p:nvSpPr>
        <p:spPr>
          <a:xfrm>
            <a:off x="548640" y="1691640"/>
            <a:ext cx="3547872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Schedule: five phases heading"/>
          <p:cNvSpPr txBox="1"/>
          <p:nvPr/>
        </p:nvSpPr>
        <p:spPr>
          <a:xfrm>
            <a:off x="731520" y="1801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Schedule: five phases</a:t>
            </a:r>
            <a:endParaRPr lang="en-US" sz="1600" dirty="0"/>
          </a:p>
        </p:txBody>
      </p:sp>
      <p:sp>
        <p:nvSpPr>
          <p:cNvPr id="8" name="Schedule: five phases text"/>
          <p:cNvSpPr txBox="1"/>
          <p:nvPr/>
        </p:nvSpPr>
        <p:spPr>
          <a:xfrm>
            <a:off x="731520" y="2221992"/>
            <a:ext cx="318211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P1  Requirements, SRS, design (Review III)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P2  OCR + NLP extraction modules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P3  Validation + legal rule engine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P4  Blockchain + backend integration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P5  UI, testing, final report</a:t>
            </a:r>
            <a:endParaRPr lang="en-US" sz="1400" dirty="0"/>
          </a:p>
        </p:txBody>
      </p:sp>
      <p:sp>
        <p:nvSpPr>
          <p:cNvPr id="9" name="Resources card"/>
          <p:cNvSpPr/>
          <p:nvPr/>
        </p:nvSpPr>
        <p:spPr>
          <a:xfrm>
            <a:off x="4233672" y="1691640"/>
            <a:ext cx="3547872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Resources heading"/>
          <p:cNvSpPr txBox="1"/>
          <p:nvPr/>
        </p:nvSpPr>
        <p:spPr>
          <a:xfrm>
            <a:off x="4416552" y="1801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Resources</a:t>
            </a:r>
            <a:endParaRPr lang="en-US" sz="1600" dirty="0"/>
          </a:p>
        </p:txBody>
      </p:sp>
      <p:sp>
        <p:nvSpPr>
          <p:cNvPr id="11" name="Resources text"/>
          <p:cNvSpPr txBox="1"/>
          <p:nvPr/>
        </p:nvSpPr>
        <p:spPr>
          <a:xfrm>
            <a:off x="4416552" y="2221992"/>
            <a:ext cx="318211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 of 3 with a faculty guide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Open-source stack: Next.js, FastAPI, PostgreSQL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Tesseract, spaCy / Transformers, sentence-transformers, FAISS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Laptops and local servers for development</a:t>
            </a:r>
            <a:endParaRPr lang="en-US" sz="1400" dirty="0"/>
          </a:p>
        </p:txBody>
      </p:sp>
      <p:sp>
        <p:nvSpPr>
          <p:cNvPr id="12" name="Budget card"/>
          <p:cNvSpPr/>
          <p:nvPr/>
        </p:nvSpPr>
        <p:spPr>
          <a:xfrm>
            <a:off x="7918704" y="1691640"/>
            <a:ext cx="3721608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Budget heading"/>
          <p:cNvSpPr txBox="1"/>
          <p:nvPr/>
        </p:nvSpPr>
        <p:spPr>
          <a:xfrm>
            <a:off x="8101584" y="180136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Budget</a:t>
            </a:r>
            <a:endParaRPr lang="en-US" sz="1600" dirty="0"/>
          </a:p>
        </p:txBody>
      </p:sp>
      <p:sp>
        <p:nvSpPr>
          <p:cNvPr id="14" name="Budget text"/>
          <p:cNvSpPr txBox="1"/>
          <p:nvPr/>
        </p:nvSpPr>
        <p:spPr>
          <a:xfrm>
            <a:off x="8101584" y="2221992"/>
            <a:ext cx="3355848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licence cost: open-source tools only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Local / private EVM network, so no gas fees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paid APIs needed for the core system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hosted on local machines</a:t>
            </a:r>
            <a:endParaRPr lang="en-US" sz="1400" dirty="0"/>
          </a:p>
        </p:txBody>
      </p:sp>
      <p:sp>
        <p:nvSpPr>
          <p:cNvPr id="15" name="Summary banner"/>
          <p:cNvSpPr txBox="1"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Fit: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core scope (8 functional requirements) suits a 3-member team. Government integration, GIS, mobile app, chatbot and more languages are deferred to future scope.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Requirements Traceability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Are all requirements traceable to the system level?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5 of 12</a:t>
            </a:r>
            <a:endParaRPr lang="en-US" sz="1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1737360"/>
                <a:gridCol w="2834640"/>
                <a:gridCol w="1764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Need (problem)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System objective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System component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Acceptance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Document tampering goes unnoticed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Tamper-evident verification record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Blockchain module: Solidity contract + Web3.py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AC-4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Manual checking is slow and error-prone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Faster, automated analysis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FR-1, FR-2, FR-3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Upload, OCR and NLP modules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AC-1, AC-2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Mismatches and ownership gaps are hard to spot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Detect inconsistencies, fraud and risk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FR-4, FR-5, FR-7, FR-8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Validation, rule engine, ownership graph, report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AC-3, AC-5, AC-6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Summary banner"/>
          <p:cNvSpPr txBox="1"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Trace: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each requirement links up to a stated problem and down to a component and an acceptance test (full matrix in the SRS appendix).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Product Needs &amp; Market Demand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What is needed to make the product, and is there a demand for it?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6–7</a:t>
            </a:r>
            <a:endParaRPr lang="en-US" sz="15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Checkpoints 6–7 of 12</a:t>
            </a:r>
            <a:endParaRPr lang="en-US" sz="1000" dirty="0"/>
          </a:p>
        </p:txBody>
      </p:sp>
      <p:sp>
        <p:nvSpPr>
          <p:cNvPr id="6" name="What is needed card"/>
          <p:cNvSpPr/>
          <p:nvPr/>
        </p:nvSpPr>
        <p:spPr>
          <a:xfrm>
            <a:off x="548640" y="1691640"/>
            <a:ext cx="6400800" cy="411480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What is needed heading"/>
          <p:cNvSpPr txBox="1"/>
          <p:nvPr/>
        </p:nvSpPr>
        <p:spPr>
          <a:xfrm>
            <a:off x="731520" y="1801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is needed</a:t>
            </a:r>
            <a:endParaRPr lang="en-US" sz="1600" dirty="0"/>
          </a:p>
        </p:txBody>
      </p:sp>
      <p:sp>
        <p:nvSpPr>
          <p:cNvPr id="8" name="What is needed text"/>
          <p:cNvSpPr txBox="1"/>
          <p:nvPr/>
        </p:nvSpPr>
        <p:spPr>
          <a:xfrm>
            <a:off x="731520" y="2221992"/>
            <a:ext cx="60350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Data: sample property documents in English and Marathi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OCR and NLP: Tesseract, spaCy / Transformers, sentence-transformers, FAISS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Application: Next.js frontend, FastAPI backend, PostgreSQL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Blockchain: Solidity contracts, Web3.py, local / private EVM network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Legal knowledge: Maharashtra rules, Registration Act 1908, Transfer of Property Act 1882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People: 3-member team with faculty guidance</a:t>
            </a:r>
            <a:endParaRPr lang="en-US" sz="1400" dirty="0"/>
          </a:p>
        </p:txBody>
      </p:sp>
      <p:sp>
        <p:nvSpPr>
          <p:cNvPr id="9" name="Evidence of demand card"/>
          <p:cNvSpPr/>
          <p:nvPr/>
        </p:nvSpPr>
        <p:spPr>
          <a:xfrm>
            <a:off x="7205472" y="1691640"/>
            <a:ext cx="4434840" cy="411480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Evidence of demand heading"/>
          <p:cNvSpPr txBox="1"/>
          <p:nvPr/>
        </p:nvSpPr>
        <p:spPr>
          <a:xfrm>
            <a:off x="7388352" y="18013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Evidence of demand</a:t>
            </a:r>
            <a:endParaRPr lang="en-US" sz="1600" dirty="0"/>
          </a:p>
        </p:txBody>
      </p:sp>
      <p:sp>
        <p:nvSpPr>
          <p:cNvPr id="11" name="Evidence of demand text"/>
          <p:cNvSpPr txBox="1"/>
          <p:nvPr/>
        </p:nvSpPr>
        <p:spPr>
          <a:xfrm>
            <a:off x="7388352" y="2221992"/>
            <a:ext cx="406908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Property records are scattered across many documents and systems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verification is slow and error-prone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Buyers, banks, lawyers and agencies need quick preliminary checks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National land-record digitisation drive (DILRMP)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 papers (2020–2026) on blockchain land records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Stakeholder Identification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Is identification of stakeholders done properly?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8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8 of 12</a:t>
            </a:r>
            <a:endParaRPr lang="en-US" sz="1000" dirty="0"/>
          </a:p>
        </p:txBody>
      </p:sp>
      <p:sp>
        <p:nvSpPr>
          <p:cNvPr id="6" name="Buyers, Sellers &amp; Owners card"/>
          <p:cNvSpPr/>
          <p:nvPr/>
        </p:nvSpPr>
        <p:spPr>
          <a:xfrm>
            <a:off x="548640" y="1691640"/>
            <a:ext cx="35478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Buyers, Sellers &amp;amp; Owners heading"/>
          <p:cNvSpPr txBox="1"/>
          <p:nvPr/>
        </p:nvSpPr>
        <p:spPr>
          <a:xfrm>
            <a:off x="731520" y="1801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Buyers, Sellers &amp; Owners</a:t>
            </a:r>
            <a:endParaRPr lang="en-US" sz="1600" dirty="0"/>
          </a:p>
        </p:txBody>
      </p:sp>
      <p:sp>
        <p:nvSpPr>
          <p:cNvPr id="8" name="Buyers, Sellers &amp;amp; Owners tag"/>
          <p:cNvSpPr txBox="1"/>
          <p:nvPr/>
        </p:nvSpPr>
        <p:spPr>
          <a:xfrm>
            <a:off x="731520" y="214884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PRIMARY</a:t>
            </a:r>
            <a:endParaRPr lang="en-US" sz="1100" dirty="0"/>
          </a:p>
        </p:txBody>
      </p:sp>
      <p:sp>
        <p:nvSpPr>
          <p:cNvPr id="9" name="Buyers, Sellers &amp; Owners text"/>
          <p:cNvSpPr txBox="1"/>
          <p:nvPr/>
        </p:nvSpPr>
        <p:spPr>
          <a:xfrm>
            <a:off x="731520" y="246888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Verify a property before committing to a transaction</a:t>
            </a:r>
            <a:endParaRPr lang="en-US" sz="1400" dirty="0"/>
          </a:p>
        </p:txBody>
      </p:sp>
      <p:sp>
        <p:nvSpPr>
          <p:cNvPr id="10" name="Lawyers &amp; Advocates card"/>
          <p:cNvSpPr/>
          <p:nvPr/>
        </p:nvSpPr>
        <p:spPr>
          <a:xfrm>
            <a:off x="4320540" y="1691640"/>
            <a:ext cx="35478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Lawyers &amp;amp; Advocates heading"/>
          <p:cNvSpPr txBox="1"/>
          <p:nvPr/>
        </p:nvSpPr>
        <p:spPr>
          <a:xfrm>
            <a:off x="4503420" y="1801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Lawyers &amp; Advocates</a:t>
            </a:r>
            <a:endParaRPr lang="en-US" sz="1600" dirty="0"/>
          </a:p>
        </p:txBody>
      </p:sp>
      <p:sp>
        <p:nvSpPr>
          <p:cNvPr id="12" name="Lawyers &amp;amp; Advocates tag"/>
          <p:cNvSpPr txBox="1"/>
          <p:nvPr/>
        </p:nvSpPr>
        <p:spPr>
          <a:xfrm>
            <a:off x="4503420" y="214884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PRIMARY</a:t>
            </a:r>
            <a:endParaRPr lang="en-US" sz="1100" dirty="0"/>
          </a:p>
        </p:txBody>
      </p:sp>
      <p:sp>
        <p:nvSpPr>
          <p:cNvPr id="13" name="Lawyers &amp; Advocates text"/>
          <p:cNvSpPr txBox="1"/>
          <p:nvPr/>
        </p:nvSpPr>
        <p:spPr>
          <a:xfrm>
            <a:off x="4503420" y="246888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Quick preliminary check of title documents</a:t>
            </a:r>
            <a:endParaRPr lang="en-US" sz="1400" dirty="0"/>
          </a:p>
        </p:txBody>
      </p:sp>
      <p:sp>
        <p:nvSpPr>
          <p:cNvPr id="14" name="Banks &amp; Lenders card"/>
          <p:cNvSpPr/>
          <p:nvPr/>
        </p:nvSpPr>
        <p:spPr>
          <a:xfrm>
            <a:off x="8092440" y="1691640"/>
            <a:ext cx="35478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Banks &amp;amp; Lenders heading"/>
          <p:cNvSpPr txBox="1"/>
          <p:nvPr/>
        </p:nvSpPr>
        <p:spPr>
          <a:xfrm>
            <a:off x="8275320" y="1801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Banks &amp; Lenders</a:t>
            </a:r>
            <a:endParaRPr lang="en-US" sz="1600" dirty="0"/>
          </a:p>
        </p:txBody>
      </p:sp>
      <p:sp>
        <p:nvSpPr>
          <p:cNvPr id="16" name="Banks &amp;amp; Lenders tag"/>
          <p:cNvSpPr txBox="1"/>
          <p:nvPr/>
        </p:nvSpPr>
        <p:spPr>
          <a:xfrm>
            <a:off x="8275320" y="214884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PRIMARY</a:t>
            </a:r>
            <a:endParaRPr lang="en-US" sz="1100" dirty="0"/>
          </a:p>
        </p:txBody>
      </p:sp>
      <p:sp>
        <p:nvSpPr>
          <p:cNvPr id="17" name="Banks &amp; Lenders text"/>
          <p:cNvSpPr txBox="1"/>
          <p:nvPr/>
        </p:nvSpPr>
        <p:spPr>
          <a:xfrm>
            <a:off x="8275320" y="246888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Due diligence before property-backed loans</a:t>
            </a:r>
            <a:endParaRPr lang="en-US" sz="1400" dirty="0"/>
          </a:p>
        </p:txBody>
      </p:sp>
      <p:sp>
        <p:nvSpPr>
          <p:cNvPr id="18" name="Real-Estate Agencies card"/>
          <p:cNvSpPr/>
          <p:nvPr/>
        </p:nvSpPr>
        <p:spPr>
          <a:xfrm>
            <a:off x="548640" y="3840480"/>
            <a:ext cx="35478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Real-Estate Agencies heading"/>
          <p:cNvSpPr txBox="1"/>
          <p:nvPr/>
        </p:nvSpPr>
        <p:spPr>
          <a:xfrm>
            <a:off x="731520" y="395020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Real-Estate Agencies</a:t>
            </a:r>
            <a:endParaRPr lang="en-US" sz="1600" dirty="0"/>
          </a:p>
        </p:txBody>
      </p:sp>
      <p:sp>
        <p:nvSpPr>
          <p:cNvPr id="20" name="Real-Estate Agencies tag"/>
          <p:cNvSpPr txBox="1"/>
          <p:nvPr/>
        </p:nvSpPr>
        <p:spPr>
          <a:xfrm>
            <a:off x="731520" y="429768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SECONDARY</a:t>
            </a:r>
            <a:endParaRPr lang="en-US" sz="1100" dirty="0"/>
          </a:p>
        </p:txBody>
      </p:sp>
      <p:sp>
        <p:nvSpPr>
          <p:cNvPr id="21" name="Real-Estate Agencies text"/>
          <p:cNvSpPr txBox="1"/>
          <p:nvPr/>
        </p:nvSpPr>
        <p:spPr>
          <a:xfrm>
            <a:off x="731520" y="46177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Build buyer trust in the listings they handle</a:t>
            </a:r>
            <a:endParaRPr lang="en-US" sz="1400" dirty="0"/>
          </a:p>
        </p:txBody>
      </p:sp>
      <p:sp>
        <p:nvSpPr>
          <p:cNvPr id="22" name="Government Authorities card"/>
          <p:cNvSpPr/>
          <p:nvPr/>
        </p:nvSpPr>
        <p:spPr>
          <a:xfrm>
            <a:off x="4320540" y="3840480"/>
            <a:ext cx="35478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Government Authorities heading"/>
          <p:cNvSpPr txBox="1"/>
          <p:nvPr/>
        </p:nvSpPr>
        <p:spPr>
          <a:xfrm>
            <a:off x="4503420" y="395020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Government Authorities</a:t>
            </a:r>
            <a:endParaRPr lang="en-US" sz="1600" dirty="0"/>
          </a:p>
        </p:txBody>
      </p:sp>
      <p:sp>
        <p:nvSpPr>
          <p:cNvPr id="24" name="Government Authorities tag"/>
          <p:cNvSpPr txBox="1"/>
          <p:nvPr/>
        </p:nvSpPr>
        <p:spPr>
          <a:xfrm>
            <a:off x="4503420" y="429768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SECONDARY</a:t>
            </a:r>
            <a:endParaRPr lang="en-US" sz="1100" dirty="0"/>
          </a:p>
        </p:txBody>
      </p:sp>
      <p:sp>
        <p:nvSpPr>
          <p:cNvPr id="25" name="Government Authorities text"/>
          <p:cNvSpPr txBox="1"/>
          <p:nvPr/>
        </p:nvSpPr>
        <p:spPr>
          <a:xfrm>
            <a:off x="4503420" y="46177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Tamper-evident records; future record integration</a:t>
            </a:r>
            <a:endParaRPr lang="en-US" sz="1400" dirty="0"/>
          </a:p>
        </p:txBody>
      </p:sp>
      <p:sp>
        <p:nvSpPr>
          <p:cNvPr id="26" name="Project Team &amp; Guide card"/>
          <p:cNvSpPr/>
          <p:nvPr/>
        </p:nvSpPr>
        <p:spPr>
          <a:xfrm>
            <a:off x="8092440" y="3840480"/>
            <a:ext cx="35478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Project Team &amp;amp; Guide heading"/>
          <p:cNvSpPr txBox="1"/>
          <p:nvPr/>
        </p:nvSpPr>
        <p:spPr>
          <a:xfrm>
            <a:off x="8275320" y="395020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Project Team &amp; Guide</a:t>
            </a:r>
            <a:endParaRPr lang="en-US" sz="1600" dirty="0"/>
          </a:p>
        </p:txBody>
      </p:sp>
      <p:sp>
        <p:nvSpPr>
          <p:cNvPr id="28" name="Project Team &amp;amp; Guide tag"/>
          <p:cNvSpPr txBox="1"/>
          <p:nvPr/>
        </p:nvSpPr>
        <p:spPr>
          <a:xfrm>
            <a:off x="8275320" y="429768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SECONDARY</a:t>
            </a:r>
            <a:endParaRPr lang="en-US" sz="1100" dirty="0"/>
          </a:p>
        </p:txBody>
      </p:sp>
      <p:sp>
        <p:nvSpPr>
          <p:cNvPr id="29" name="Project Team &amp; Guide text"/>
          <p:cNvSpPr txBox="1"/>
          <p:nvPr/>
        </p:nvSpPr>
        <p:spPr>
          <a:xfrm>
            <a:off x="8275320" y="46177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Build, maintain and evaluate the 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Requirements Captured vs Scope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Are all requirements captured and documented in line with scope?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9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9 of 12</a:t>
            </a:r>
            <a:endParaRPr lang="en-US" sz="10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858000"/>
                <a:gridCol w="17647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Scope item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Document Upload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system shall accept property documents as PDF or image files.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OCR &amp; Extraction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system shall extract names, dates, survey numbers, area and owner details.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AI / NLP Analysis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system shall identify entities and classify each document type.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Cross-Doc Validation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system shall compare fields across documents and list mismatches.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Fraud &amp; Risk Detection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system shall flag missing, mismatched or suspicious data using legal rules.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Blockchain Security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system shall store SHA-256 hashes and verification events on the blockchain.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Ownership Workflow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system shall build the ownership chain and highlight gaps.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Risk Report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system shall output Verified / Needs Review / Flagged with reasons.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Quality (non-functional)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Security and integrity, English + Marathi support, usable report, reasonable response time.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NFR-1 to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Analysis Classes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Have all types of analysis classes been identified?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10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10 of 12</a:t>
            </a:r>
            <a:endParaRPr lang="en-US" sz="1000" dirty="0"/>
          </a:p>
        </p:txBody>
      </p:sp>
      <p:sp>
        <p:nvSpPr>
          <p:cNvPr id="6" name="Entity classes card"/>
          <p:cNvSpPr/>
          <p:nvPr/>
        </p:nvSpPr>
        <p:spPr>
          <a:xfrm>
            <a:off x="548640" y="1691640"/>
            <a:ext cx="3547872" cy="374904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Entity classes heading"/>
          <p:cNvSpPr txBox="1"/>
          <p:nvPr/>
        </p:nvSpPr>
        <p:spPr>
          <a:xfrm>
            <a:off x="731520" y="1801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Entity classes</a:t>
            </a:r>
            <a:endParaRPr lang="en-US" sz="1600" dirty="0"/>
          </a:p>
        </p:txBody>
      </p:sp>
      <p:sp>
        <p:nvSpPr>
          <p:cNvPr id="8" name="Entity classes tag"/>
          <p:cNvSpPr txBox="1"/>
          <p:nvPr/>
        </p:nvSpPr>
        <p:spPr>
          <a:xfrm>
            <a:off x="731520" y="214884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8 classes · hold the information</a:t>
            </a:r>
            <a:endParaRPr lang="en-US" sz="1100" dirty="0"/>
          </a:p>
        </p:txBody>
      </p:sp>
      <p:sp>
        <p:nvSpPr>
          <p:cNvPr id="9" name="Entity classes text"/>
          <p:cNvSpPr txBox="1"/>
          <p:nvPr/>
        </p:nvSpPr>
        <p:spPr>
          <a:xfrm>
            <a:off x="731520" y="2468880"/>
            <a:ext cx="318211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Property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ExtractedField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OwnershipRecord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LegalRule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RiskFlag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VerificationReport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BlockchainRecord</a:t>
            </a:r>
            <a:endParaRPr lang="en-US" sz="1400" dirty="0"/>
          </a:p>
        </p:txBody>
      </p:sp>
      <p:sp>
        <p:nvSpPr>
          <p:cNvPr id="10" name="Boundary classes card"/>
          <p:cNvSpPr/>
          <p:nvPr/>
        </p:nvSpPr>
        <p:spPr>
          <a:xfrm>
            <a:off x="4233672" y="1691640"/>
            <a:ext cx="3547872" cy="374904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Boundary classes heading"/>
          <p:cNvSpPr txBox="1"/>
          <p:nvPr/>
        </p:nvSpPr>
        <p:spPr>
          <a:xfrm>
            <a:off x="4416552" y="18013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Boundary classes</a:t>
            </a:r>
            <a:endParaRPr lang="en-US" sz="1600" dirty="0"/>
          </a:p>
        </p:txBody>
      </p:sp>
      <p:sp>
        <p:nvSpPr>
          <p:cNvPr id="12" name="Boundary classes tag"/>
          <p:cNvSpPr txBox="1"/>
          <p:nvPr/>
        </p:nvSpPr>
        <p:spPr>
          <a:xfrm>
            <a:off x="4416552" y="214884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4 classes · connect users and systems</a:t>
            </a:r>
            <a:endParaRPr lang="en-US" sz="1100" dirty="0"/>
          </a:p>
        </p:txBody>
      </p:sp>
      <p:sp>
        <p:nvSpPr>
          <p:cNvPr id="13" name="Boundary classes text"/>
          <p:cNvSpPr txBox="1"/>
          <p:nvPr/>
        </p:nvSpPr>
        <p:spPr>
          <a:xfrm>
            <a:off x="4416552" y="2468880"/>
            <a:ext cx="318211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UploadPage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ReportPage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ChainGateway (EVM interface)</a:t>
            </a:r>
            <a:endParaRPr lang="en-US" sz="1400" dirty="0"/>
          </a:p>
        </p:txBody>
      </p:sp>
      <p:sp>
        <p:nvSpPr>
          <p:cNvPr id="14" name="Control classes card"/>
          <p:cNvSpPr/>
          <p:nvPr/>
        </p:nvSpPr>
        <p:spPr>
          <a:xfrm>
            <a:off x="7918704" y="1691640"/>
            <a:ext cx="3721608" cy="3749040"/>
          </a:xfrm>
          <a:prstGeom prst="roundRect">
            <a:avLst>
              <a:gd name="adj" fmla="val 196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Control classes heading"/>
          <p:cNvSpPr txBox="1"/>
          <p:nvPr/>
        </p:nvSpPr>
        <p:spPr>
          <a:xfrm>
            <a:off x="8101584" y="180136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Control classes</a:t>
            </a:r>
            <a:endParaRPr lang="en-US" sz="1600" dirty="0"/>
          </a:p>
        </p:txBody>
      </p:sp>
      <p:sp>
        <p:nvSpPr>
          <p:cNvPr id="16" name="Control classes tag"/>
          <p:cNvSpPr txBox="1"/>
          <p:nvPr/>
        </p:nvSpPr>
        <p:spPr>
          <a:xfrm>
            <a:off x="8101584" y="2148840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7 classes · run the logic</a:t>
            </a:r>
            <a:endParaRPr lang="en-US" sz="1100" dirty="0"/>
          </a:p>
        </p:txBody>
      </p:sp>
      <p:sp>
        <p:nvSpPr>
          <p:cNvPr id="17" name="Control classes text"/>
          <p:cNvSpPr txBox="1"/>
          <p:nvPr/>
        </p:nvSpPr>
        <p:spPr>
          <a:xfrm>
            <a:off x="8101584" y="2468880"/>
            <a:ext cx="33558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OCRService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NLPExtractor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DocClassifier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CrossValidator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OwnershipGraphBuilder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RuleEngine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BlockchainService</a:t>
            </a:r>
            <a:endParaRPr lang="en-US" sz="1400" dirty="0"/>
          </a:p>
        </p:txBody>
      </p:sp>
      <p:sp>
        <p:nvSpPr>
          <p:cNvPr id="18" name="Summary banner"/>
          <p:cNvSpPr txBox="1"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19 analysis classes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map directly to the modules in the system flow.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Acceptance Criteria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Has the acceptance criteria been decided?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11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11 of 12</a:t>
            </a:r>
            <a:endParaRPr lang="en-US" sz="10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583680"/>
                <a:gridCol w="1463040"/>
                <a:gridCol w="22219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Acceptance 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Test method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AC-1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PDF and image files are accepted; unsupported formats are rejected with a clear message.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Upload test cases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AC-2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Key fields (owner, survey number, area, date) are extracted from English and Marathi documents with at least 85% field accuracy.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FR-2, FR-3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Labelled sample set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AC-3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Mismatches injected across documents are flagged with a reason in at least 90% of test cases.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FR-4, FR-5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Seeded-error test set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AC-4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Any change to a document changes its SHA-256 hash and fails on-chain verification.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Tamper test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AC-5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ownership chain is displayed and gaps are highlighted.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Scenario walkthrough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AC-6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Every run returns Verified / Needs Review / Flagged with reasons.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FR-8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End-to-end test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C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argets no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Percentage targets are proposed and will be finalised with the project guide.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SRS Document (IEEE Format)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1097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Is the SRS complete and correct as per IEEE format?</a:t>
            </a:r>
            <a:endParaRPr lang="en-US" sz="1500" dirty="0"/>
          </a:p>
        </p:txBody>
      </p:sp>
      <p:sp>
        <p:nvSpPr>
          <p:cNvPr id="4" name="Checkpoint badge"/>
          <p:cNvSpPr txBox="1"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12</a:t>
            </a:r>
            <a:endParaRPr lang="en-US" sz="2200" dirty="0"/>
          </a:p>
        </p:txBody>
      </p:sp>
      <p:sp>
        <p:nvSpPr>
          <p:cNvPr id="5" name="Checkpoint tag"/>
          <p:cNvSpPr txBox="1"/>
          <p:nvPr/>
        </p:nvSpPr>
        <p:spPr>
          <a:xfrm>
            <a:off x="8138160" y="6400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Checkpoint 12 of 12</a:t>
            </a:r>
            <a:endParaRPr lang="en-US" sz="1000" dirty="0"/>
          </a:p>
        </p:txBody>
      </p:sp>
      <p:sp>
        <p:nvSpPr>
          <p:cNvPr id="6" name="SRS structure card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SRS structure heading"/>
          <p:cNvSpPr txBox="1"/>
          <p:nvPr/>
        </p:nvSpPr>
        <p:spPr>
          <a:xfrm>
            <a:off x="731520" y="18013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SRS structure</a:t>
            </a:r>
            <a:endParaRPr lang="en-US" sz="1600" dirty="0"/>
          </a:p>
        </p:txBody>
      </p:sp>
      <p:sp>
        <p:nvSpPr>
          <p:cNvPr id="8" name="SRS structure text"/>
          <p:cNvSpPr txBox="1"/>
          <p:nvPr/>
        </p:nvSpPr>
        <p:spPr>
          <a:xfrm>
            <a:off x="731520" y="2221992"/>
            <a:ext cx="502920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1. Introduction: purpose, scope, definitions, references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2. Overall description: product perspective, functions, user classes, constraints, assumptions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3. Specific requirements: external interfaces, FR-1 to FR-8, performance, design constraints, quality attributes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4. Appendices: traceability matrix, analysis models</a:t>
            </a:r>
            <a:endParaRPr lang="en-US" sz="1400" dirty="0"/>
          </a:p>
        </p:txBody>
      </p:sp>
      <p:sp>
        <p:nvSpPr>
          <p:cNvPr id="9" name="Where each checkpoint lives in the SRS card"/>
          <p:cNvSpPr/>
          <p:nvPr/>
        </p:nvSpPr>
        <p:spPr>
          <a:xfrm>
            <a:off x="6172200" y="1691640"/>
            <a:ext cx="5468112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Where each checkpoint lives in the SRS heading"/>
          <p:cNvSpPr txBox="1"/>
          <p:nvPr/>
        </p:nvSpPr>
        <p:spPr>
          <a:xfrm>
            <a:off x="6355080" y="1801368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Where each checkpoint lives in the SRS</a:t>
            </a:r>
            <a:endParaRPr lang="en-US" sz="1600" dirty="0"/>
          </a:p>
        </p:txBody>
      </p:sp>
      <p:sp>
        <p:nvSpPr>
          <p:cNvPr id="11" name="Where each checkpoint lives in the SRS text"/>
          <p:cNvSpPr txBox="1"/>
          <p:nvPr/>
        </p:nvSpPr>
        <p:spPr>
          <a:xfrm>
            <a:off x="6355080" y="2221992"/>
            <a:ext cx="5102352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Information domain (1, 2): sections 1 and 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Interfaces (3): section 3.1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Schedule, resources, budget (4): section 2 constraints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Traceability, scope (5, 9): section 3 + matrix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Needs, demand (6, 7): sections 1 and 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Stakeholders (8): section 2 user classes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Analysis classes (10): appendix models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Acceptance criteria (11): section 3 + appendix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Summary &amp; Next Steps</a:t>
            </a:r>
            <a:endParaRPr lang="en-US" sz="3600" dirty="0"/>
          </a:p>
        </p:txBody>
      </p:sp>
      <p:sp>
        <p:nvSpPr>
          <p:cNvPr id="3" name="functional requirements number"/>
          <p:cNvSpPr txBox="1"/>
          <p:nvPr/>
        </p:nvSpPr>
        <p:spPr>
          <a:xfrm>
            <a:off x="73152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6000" dirty="0"/>
          </a:p>
        </p:txBody>
      </p:sp>
      <p:sp>
        <p:nvSpPr>
          <p:cNvPr id="4" name="functional requirements label"/>
          <p:cNvSpPr txBox="1"/>
          <p:nvPr/>
        </p:nvSpPr>
        <p:spPr>
          <a:xfrm>
            <a:off x="73152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functional requirements</a:t>
            </a:r>
            <a:endParaRPr lang="en-US" sz="1400" dirty="0"/>
          </a:p>
        </p:txBody>
      </p:sp>
      <p:sp>
        <p:nvSpPr>
          <p:cNvPr id="5" name="acceptance criteria number"/>
          <p:cNvSpPr txBox="1"/>
          <p:nvPr/>
        </p:nvSpPr>
        <p:spPr>
          <a:xfrm>
            <a:off x="265176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6000" dirty="0"/>
          </a:p>
        </p:txBody>
      </p:sp>
      <p:sp>
        <p:nvSpPr>
          <p:cNvPr id="6" name="acceptance criteria label"/>
          <p:cNvSpPr txBox="1"/>
          <p:nvPr/>
        </p:nvSpPr>
        <p:spPr>
          <a:xfrm>
            <a:off x="265176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acceptance criteria</a:t>
            </a:r>
            <a:endParaRPr lang="en-US" sz="1400" dirty="0"/>
          </a:p>
        </p:txBody>
      </p:sp>
      <p:sp>
        <p:nvSpPr>
          <p:cNvPr id="7" name="analysis classes number"/>
          <p:cNvSpPr txBox="1"/>
          <p:nvPr/>
        </p:nvSpPr>
        <p:spPr>
          <a:xfrm>
            <a:off x="457200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</a:t>
            </a:r>
            <a:endParaRPr lang="en-US" sz="6000" dirty="0"/>
          </a:p>
        </p:txBody>
      </p:sp>
      <p:sp>
        <p:nvSpPr>
          <p:cNvPr id="8" name="analysis classes label"/>
          <p:cNvSpPr txBox="1"/>
          <p:nvPr/>
        </p:nvSpPr>
        <p:spPr>
          <a:xfrm>
            <a:off x="45720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analysis classes</a:t>
            </a:r>
            <a:endParaRPr lang="en-US" sz="1400" dirty="0"/>
          </a:p>
        </p:txBody>
      </p:sp>
      <p:sp>
        <p:nvSpPr>
          <p:cNvPr id="9" name="Baseline statement"/>
          <p:cNvSpPr txBox="1"/>
          <p:nvPr/>
        </p:nvSpPr>
        <p:spPr>
          <a:xfrm>
            <a:off x="731520" y="4023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The requirements baseline is defined and traceable from problem to test.</a:t>
            </a:r>
            <a:endParaRPr lang="en-US" sz="1800" dirty="0"/>
          </a:p>
        </p:txBody>
      </p:sp>
      <p:sp>
        <p:nvSpPr>
          <p:cNvPr id="10" name="Next steps heading"/>
          <p:cNvSpPr txBox="1"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1" name="Next steps list"/>
          <p:cNvSpPr txBox="1"/>
          <p:nvPr/>
        </p:nvSpPr>
        <p:spPr>
          <a:xfrm>
            <a:off x="6309360" y="22860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Finalise the SRS and review it with the guide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Build the OCR and extraction pipeline on sample English and Marathi documents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Implement cross-document validation and the Maharashtra rule engine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Add the smart contract and backend integration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Build the UI and test against AC-1 to AC-6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Chain Rust">
  <a:themeElements>
    <a:clrScheme name="PropChain Rust">
      <a:dk1>
        <a:srgbClr val="2B1A16"/>
      </a:dk1>
      <a:lt1>
        <a:srgbClr val="FFFFFF"/>
      </a:lt1>
      <a:dk2>
        <a:srgbClr val="6E1F10"/>
      </a:dk2>
      <a:lt2>
        <a:srgbClr val="FBF0EC"/>
      </a:lt2>
      <a:accent1>
        <a:srgbClr val="B03A1E"/>
      </a:accent1>
      <a:accent2>
        <a:srgbClr val="E3A13B"/>
      </a:accent2>
      <a:accent3>
        <a:srgbClr val="3F7D58"/>
      </a:accent3>
      <a:accent4>
        <a:srgbClr val="44546A"/>
      </a:accent4>
      <a:accent5>
        <a:srgbClr val="E9C8BD"/>
      </a:accent5>
      <a:accent6>
        <a:srgbClr val="7A6E68"/>
      </a:accent6>
      <a:hlink>
        <a:srgbClr val="B03A1E"/>
      </a:hlink>
      <a:folHlink>
        <a:srgbClr val="6E1F10"/>
      </a:folHlink>
    </a:clrScheme>
    <a:fontScheme name="PropChain Ru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PropChain-AI - Project Review III</dc:title>
  <dc:subject>PptxGenJS Presentation</dc:subject>
  <dc:creator>Team PropChain-AI</dc:creator>
  <cp:lastModifiedBy>Team PropChain-AI</cp:lastModifiedBy>
  <cp:revision>1</cp:revision>
  <dcterms:created xsi:type="dcterms:W3CDTF">2026-10-10T07:10:57Z</dcterms:created>
  <dcterms:modified xsi:type="dcterms:W3CDTF">2026-10-10T07:10:57Z</dcterms:modified>
</cp:coreProperties>
</file>